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notesSlides/notesSlide2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notesSlides/notesSlide3.xml" ContentType="application/vnd.openxmlformats-officedocument.presentationml.notesSlide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notesSlides/notesSlide4.xml" ContentType="application/vnd.openxmlformats-officedocument.presentationml.notesSlide+xml"/>
  <Override PartName="/ppt/tags/tag75.xml" ContentType="application/vnd.openxmlformats-officedocument.presentationml.tags+xml"/>
  <Override PartName="/ppt/notesSlides/notesSlide5.xml" ContentType="application/vnd.openxmlformats-officedocument.presentationml.notesSlide+xml"/>
  <Override PartName="/ppt/tags/tag76.xml" ContentType="application/vnd.openxmlformats-officedocument.presentationml.tags+xml"/>
  <Override PartName="/ppt/notesSlides/notesSlide6.xml" ContentType="application/vnd.openxmlformats-officedocument.presentationml.notesSlide+xml"/>
  <Override PartName="/ppt/tags/tag77.xml" ContentType="application/vnd.openxmlformats-officedocument.presentationml.tags+xml"/>
  <Override PartName="/ppt/notesSlides/notesSlide7.xml" ContentType="application/vnd.openxmlformats-officedocument.presentationml.notesSlide+xml"/>
  <Override PartName="/ppt/tags/tag78.xml" ContentType="application/vnd.openxmlformats-officedocument.presentationml.tags+xml"/>
  <Override PartName="/ppt/notesSlides/notesSlide8.xml" ContentType="application/vnd.openxmlformats-officedocument.presentationml.notesSlide+xml"/>
  <Override PartName="/ppt/tags/tag79.xml" ContentType="application/vnd.openxmlformats-officedocument.presentationml.tags+xml"/>
  <Override PartName="/ppt/notesSlides/notesSlide9.xml" ContentType="application/vnd.openxmlformats-officedocument.presentationml.notesSlide+xml"/>
  <Override PartName="/ppt/tags/tag80.xml" ContentType="application/vnd.openxmlformats-officedocument.presentationml.tags+xml"/>
  <Override PartName="/ppt/notesSlides/notesSlide10.xml" ContentType="application/vnd.openxmlformats-officedocument.presentationml.notesSlide+xml"/>
  <Override PartName="/ppt/tags/tag81.xml" ContentType="application/vnd.openxmlformats-officedocument.presentationml.tags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328" r:id="rId2"/>
    <p:sldId id="545" r:id="rId3"/>
    <p:sldId id="401" r:id="rId4"/>
    <p:sldId id="546" r:id="rId5"/>
    <p:sldId id="542" r:id="rId6"/>
    <p:sldId id="544" r:id="rId7"/>
    <p:sldId id="382" r:id="rId8"/>
    <p:sldId id="423" r:id="rId9"/>
    <p:sldId id="535" r:id="rId10"/>
    <p:sldId id="415" r:id="rId11"/>
    <p:sldId id="332" r:id="rId12"/>
  </p:sldIdLst>
  <p:sldSz cx="12192000" cy="6858000"/>
  <p:notesSz cx="6858000" cy="9144000"/>
  <p:custDataLst>
    <p:tags r:id="rId15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ll Kong" initials="W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0A4"/>
    <a:srgbClr val="004EA2"/>
    <a:srgbClr val="002A5C"/>
    <a:srgbClr val="004FA3"/>
    <a:srgbClr val="0150A4"/>
    <a:srgbClr val="126FB8"/>
    <a:srgbClr val="014FA3"/>
    <a:srgbClr val="202F37"/>
    <a:srgbClr val="2F3D46"/>
    <a:srgbClr val="FA423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421" autoAdjust="0"/>
    <p:restoredTop sz="87329" autoAdjust="0"/>
  </p:normalViewPr>
  <p:slideViewPr>
    <p:cSldViewPr snapToGrid="0">
      <p:cViewPr varScale="1">
        <p:scale>
          <a:sx n="91" d="100"/>
          <a:sy n="91" d="100"/>
        </p:scale>
        <p:origin x="492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2" d="100"/>
          <a:sy n="62" d="100"/>
        </p:scale>
        <p:origin x="3226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gs" Target="tags/tag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F47A9F-1116-4D6F-B018-8F11206739FA}" type="datetimeFigureOut">
              <a:rPr lang="en-GB" smtClean="0"/>
              <a:t>28/02/2023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DC80DA-CEBF-4C75-B633-2FF30201A5F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10487A-09D3-C042-84C0-DB2BC55D3EB9}" type="datetimeFigureOut">
              <a:rPr lang="en-GB" smtClean="0"/>
              <a:t>28/02/2023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2B8EC2-4642-C142-885B-EB782EE514A7}" type="slidenum">
              <a:rPr lang="en-GB" smtClean="0"/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22B8EC2-4642-C142-885B-EB782EE514A7}" type="slidenum">
              <a:rPr lang="en-GB" smtClean="0"/>
              <a:t>1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5858917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zh-CN" altLang="en-US" dirty="0"/>
              <a:t>现有架构和产品能否支持</a:t>
            </a:r>
            <a:r>
              <a:rPr lang="en-US" altLang="zh-CN" dirty="0"/>
              <a:t>8</a:t>
            </a:r>
            <a:r>
              <a:rPr lang="zh-CN" altLang="en-US" dirty="0"/>
              <a:t>万片产能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8446983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1900630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432308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FEEL: Friendly Enough Expression Language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r>
              <a:rPr lang="en-US" altLang="zh-CN" dirty="0"/>
              <a:t>FEEL: Friendly Enough Expression Language</a:t>
            </a:r>
          </a:p>
          <a:p>
            <a:r>
              <a:rPr lang="en-US" altLang="zh-CN" dirty="0"/>
              <a:t>AOP</a:t>
            </a:r>
            <a:r>
              <a:rPr lang="zh-CN" altLang="en-US" dirty="0"/>
              <a:t>的作用</a:t>
            </a:r>
            <a:r>
              <a:rPr lang="en-US" altLang="zh-CN" dirty="0"/>
              <a:t>AOP </a:t>
            </a:r>
            <a:r>
              <a:rPr lang="zh-CN" altLang="en-US" dirty="0"/>
              <a:t>采取横向抽取机制（动态代理），取代了传统纵向继承机制的重复性代码，其应用主要体现在事务处理、日志管理、权限控制、异常处理等方面。主要作用是分离功能性需求和非功能性需求，使开发人员可以集中处理某一个关注点或者横切逻辑，减少对业务代码的侵入，增强代码的可读性和可维护性。简单的说，</a:t>
            </a:r>
            <a:r>
              <a:rPr lang="en-US" altLang="zh-CN" dirty="0"/>
              <a:t>AOP </a:t>
            </a:r>
            <a:r>
              <a:rPr lang="zh-CN" altLang="en-US" dirty="0"/>
              <a:t>的作用就是保证开发者在不修改源代码的前提下，为系统中的业务组件添加某种通用功能</a:t>
            </a:r>
          </a:p>
          <a:p>
            <a:r>
              <a:rPr lang="en-US" altLang="zh-CN" dirty="0"/>
              <a:t>————————————————</a:t>
            </a:r>
          </a:p>
          <a:p>
            <a:r>
              <a:rPr lang="zh-CN" altLang="en-US" dirty="0"/>
              <a:t>版权声明：本文为</a:t>
            </a:r>
            <a:r>
              <a:rPr lang="en-US" altLang="zh-CN" dirty="0"/>
              <a:t>CSDN</a:t>
            </a:r>
            <a:r>
              <a:rPr lang="zh-CN" altLang="en-US" dirty="0"/>
              <a:t>博主「鸨哥学</a:t>
            </a:r>
            <a:r>
              <a:rPr lang="en-US" altLang="zh-CN" dirty="0"/>
              <a:t>JAVA</a:t>
            </a:r>
            <a:r>
              <a:rPr lang="zh-CN" altLang="en-US" dirty="0"/>
              <a:t>」的原创文章，遵循</a:t>
            </a:r>
            <a:r>
              <a:rPr lang="en-US" altLang="zh-CN" dirty="0"/>
              <a:t>CC 4.0 BY-SA</a:t>
            </a:r>
            <a:r>
              <a:rPr lang="zh-CN" altLang="en-US" dirty="0"/>
              <a:t>版权协议，转载请附上原文出处链接及本声明。</a:t>
            </a:r>
          </a:p>
          <a:p>
            <a:r>
              <a:rPr lang="zh-CN" altLang="en-US" dirty="0"/>
              <a:t>原文链接：</a:t>
            </a:r>
            <a:r>
              <a:rPr lang="en-US" altLang="zh-CN" dirty="0"/>
              <a:t>https://blog.csdn.net/Cr1556648487/article/details/126777903</a:t>
            </a:r>
            <a:endParaRPr lang="zh-CN" altLang="en-US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图片 5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" t="26204" r="-16" b="31700"/>
          <a:stretch>
            <a:fillRect/>
          </a:stretch>
        </p:blipFill>
        <p:spPr>
          <a:xfrm>
            <a:off x="635" y="1204754"/>
            <a:ext cx="12191365" cy="2886799"/>
          </a:xfrm>
          <a:prstGeom prst="rect">
            <a:avLst/>
          </a:prstGeom>
          <a:solidFill>
            <a:srgbClr val="014FA3"/>
          </a:solidFill>
          <a:effectLst>
            <a:outerShdw blurRad="50800" dist="38100" dir="5520000" algn="t" rotWithShape="0">
              <a:prstClr val="black">
                <a:alpha val="60000"/>
              </a:prstClr>
            </a:outerShdw>
          </a:effectLst>
        </p:spPr>
      </p:pic>
      <p:grpSp>
        <p:nvGrpSpPr>
          <p:cNvPr id="7" name="组合 6"/>
          <p:cNvGrpSpPr/>
          <p:nvPr userDrawn="1"/>
        </p:nvGrpSpPr>
        <p:grpSpPr>
          <a:xfrm>
            <a:off x="1712594" y="291465"/>
            <a:ext cx="4878705" cy="530971"/>
            <a:chOff x="1596935" y="134796"/>
            <a:chExt cx="3090579" cy="531115"/>
          </a:xfrm>
          <a:noFill/>
        </p:grpSpPr>
        <p:sp>
          <p:nvSpPr>
            <p:cNvPr id="9" name="文本框 8"/>
            <p:cNvSpPr txBox="1"/>
            <p:nvPr/>
          </p:nvSpPr>
          <p:spPr>
            <a:xfrm>
              <a:off x="1597074" y="435979"/>
              <a:ext cx="2407920" cy="229932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900">
                  <a:solidFill>
                    <a:schemeClr val="accent1"/>
                  </a:solidFill>
                  <a:latin typeface="微软雅黑 Light" panose="020B0502040204020203" pitchFamily="34" charset="-122"/>
                  <a:ea typeface="微软雅黑 Light" panose="020B0502040204020203" pitchFamily="34" charset="-122"/>
                </a:rPr>
                <a:t>Beijing Cowin Technology Co., Ltd. </a:t>
              </a: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1596935" y="134796"/>
              <a:ext cx="3090579" cy="398888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sz="2000">
                  <a:solidFill>
                    <a:schemeClr val="accent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北京珂阳科技有限公司</a:t>
              </a:r>
            </a:p>
          </p:txBody>
        </p:sp>
      </p:grpSp>
      <p:pic>
        <p:nvPicPr>
          <p:cNvPr id="10" name="图片 9" descr="로고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305435" y="225425"/>
            <a:ext cx="1319530" cy="662940"/>
          </a:xfrm>
          <a:prstGeom prst="rect">
            <a:avLst/>
          </a:prstGeom>
        </p:spPr>
      </p:pic>
      <p:sp>
        <p:nvSpPr>
          <p:cNvPr id="24" name="Rectangle 10"/>
          <p:cNvSpPr/>
          <p:nvPr userDrawn="1"/>
        </p:nvSpPr>
        <p:spPr>
          <a:xfrm>
            <a:off x="0" y="1204595"/>
            <a:ext cx="12192000" cy="2939415"/>
          </a:xfrm>
          <a:prstGeom prst="rect">
            <a:avLst/>
          </a:prstGeom>
          <a:gradFill>
            <a:gsLst>
              <a:gs pos="34000">
                <a:srgbClr val="014FA3">
                  <a:alpha val="44000"/>
                </a:srgbClr>
              </a:gs>
              <a:gs pos="100000">
                <a:srgbClr val="014FA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2400" dirty="0">
              <a:solidFill>
                <a:srgbClr val="FFFFFF"/>
              </a:solidFill>
              <a:latin typeface="Montserrat Light" panose="00000400000000000000" charset="0"/>
            </a:endParaRPr>
          </a:p>
        </p:txBody>
      </p:sp>
      <p:sp>
        <p:nvSpPr>
          <p:cNvPr id="22" name="标题 21"/>
          <p:cNvSpPr>
            <a:spLocks noGrp="1"/>
          </p:cNvSpPr>
          <p:nvPr>
            <p:ph type="ctrTitle" hasCustomPrompt="1"/>
          </p:nvPr>
        </p:nvSpPr>
        <p:spPr>
          <a:xfrm>
            <a:off x="635" y="1221740"/>
            <a:ext cx="12192000" cy="2869565"/>
          </a:xfrm>
        </p:spPr>
        <p:txBody>
          <a:bodyPr anchor="ctr"/>
          <a:lstStyle/>
          <a:p>
            <a:pPr algn="ctr"/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: 圆角 12"/>
          <p:cNvSpPr/>
          <p:nvPr userDrawn="1"/>
        </p:nvSpPr>
        <p:spPr>
          <a:xfrm>
            <a:off x="5496560" y="2905801"/>
            <a:ext cx="1198880" cy="374412"/>
          </a:xfrm>
          <a:prstGeom prst="roundRect">
            <a:avLst>
              <a:gd name="adj" fmla="val 852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zh-CN" altLang="en-US" b="1">
                <a:solidFill>
                  <a:srgbClr val="004EA2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第一部分</a:t>
            </a:r>
          </a:p>
        </p:txBody>
      </p:sp>
      <p:pic>
        <p:nvPicPr>
          <p:cNvPr id="7" name="图片 6"/>
          <p:cNvPicPr>
            <a:picLocks noChangeAspect="1"/>
          </p:cNvPicPr>
          <p:nvPr userDrawn="1">
            <p:custDataLst>
              <p:tags r:id="rId1"/>
            </p:custDataLst>
          </p:nvPr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871" b="35683"/>
          <a:stretch>
            <a:fillRect/>
          </a:stretch>
        </p:blipFill>
        <p:spPr>
          <a:xfrm>
            <a:off x="635" y="1751811"/>
            <a:ext cx="12191365" cy="2499338"/>
          </a:xfrm>
          <a:prstGeom prst="rect">
            <a:avLst/>
          </a:prstGeom>
          <a:solidFill>
            <a:srgbClr val="014FA3"/>
          </a:solidFill>
          <a:effectLst>
            <a:outerShdw blurRad="50800" dist="38100" dir="5520000" algn="t" rotWithShape="0">
              <a:prstClr val="black">
                <a:alpha val="60000"/>
              </a:prstClr>
            </a:outerShdw>
          </a:effectLst>
        </p:spPr>
      </p:pic>
      <p:sp>
        <p:nvSpPr>
          <p:cNvPr id="8" name="Rectangle 10"/>
          <p:cNvSpPr/>
          <p:nvPr userDrawn="1"/>
        </p:nvSpPr>
        <p:spPr>
          <a:xfrm>
            <a:off x="-635" y="1770004"/>
            <a:ext cx="12192000" cy="2484872"/>
          </a:xfrm>
          <a:prstGeom prst="rect">
            <a:avLst/>
          </a:prstGeom>
          <a:gradFill>
            <a:gsLst>
              <a:gs pos="34000">
                <a:srgbClr val="014FA3">
                  <a:alpha val="44000"/>
                </a:srgbClr>
              </a:gs>
              <a:gs pos="100000">
                <a:srgbClr val="014FA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2400" dirty="0">
              <a:solidFill>
                <a:srgbClr val="FFFFFF"/>
              </a:solidFill>
              <a:latin typeface="Montserrat Light" panose="00000400000000000000" charset="0"/>
            </a:endParaRPr>
          </a:p>
        </p:txBody>
      </p:sp>
      <p:grpSp>
        <p:nvGrpSpPr>
          <p:cNvPr id="15" name="组合 14"/>
          <p:cNvGrpSpPr/>
          <p:nvPr userDrawn="1"/>
        </p:nvGrpSpPr>
        <p:grpSpPr>
          <a:xfrm>
            <a:off x="5910132" y="4075640"/>
            <a:ext cx="429176" cy="429176"/>
            <a:chOff x="5910132" y="4075640"/>
            <a:chExt cx="429176" cy="429176"/>
          </a:xfrm>
        </p:grpSpPr>
        <p:sp>
          <p:nvSpPr>
            <p:cNvPr id="17" name="椭圆 16"/>
            <p:cNvSpPr/>
            <p:nvPr userDrawn="1"/>
          </p:nvSpPr>
          <p:spPr>
            <a:xfrm>
              <a:off x="5910132" y="4075640"/>
              <a:ext cx="429176" cy="42917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>
              <a:outerShdw blurRad="63500" sx="102000" sy="102000" algn="ctr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等腰三角形 14"/>
            <p:cNvSpPr/>
            <p:nvPr userDrawn="1"/>
          </p:nvSpPr>
          <p:spPr>
            <a:xfrm rot="10800000">
              <a:off x="6010421" y="4222173"/>
              <a:ext cx="228600" cy="197069"/>
            </a:xfrm>
            <a:prstGeom prst="triangle">
              <a:avLst/>
            </a:prstGeom>
            <a:solidFill>
              <a:srgbClr val="0050A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6" name="矩形: 圆角 12"/>
          <p:cNvSpPr/>
          <p:nvPr userDrawn="1"/>
        </p:nvSpPr>
        <p:spPr>
          <a:xfrm>
            <a:off x="5525280" y="2066310"/>
            <a:ext cx="1198880" cy="374412"/>
          </a:xfrm>
          <a:prstGeom prst="roundRect">
            <a:avLst>
              <a:gd name="adj" fmla="val 8526"/>
            </a:avLst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dist"/>
            <a:r>
              <a:rPr lang="en-US" altLang="zh-CN" b="1" dirty="0">
                <a:solidFill>
                  <a:srgbClr val="2A2A2A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</a:p>
        </p:txBody>
      </p:sp>
      <p:sp>
        <p:nvSpPr>
          <p:cNvPr id="22" name="标题 21"/>
          <p:cNvSpPr>
            <a:spLocks noGrp="1"/>
          </p:cNvSpPr>
          <p:nvPr>
            <p:ph type="ctrTitle" hasCustomPrompt="1"/>
          </p:nvPr>
        </p:nvSpPr>
        <p:spPr>
          <a:xfrm>
            <a:off x="3395345" y="2472055"/>
            <a:ext cx="4920615" cy="1080770"/>
          </a:xfrm>
        </p:spPr>
        <p:txBody>
          <a:bodyPr anchor="ctr"/>
          <a:lstStyle>
            <a:lvl1pPr>
              <a:defRPr kumimoji="0" lang="zh-CN" altLang="en-US" sz="4400" b="1" i="0" u="none" strike="noStrike" kern="1200" cap="none" spc="0" normalizeH="0" baseline="0" noProof="1" dirty="0">
                <a:blipFill>
                  <a:blip r:embed="rId4"/>
                  <a:stretch>
                    <a:fillRect/>
                  </a:stretch>
                </a:blipFill>
                <a:latin typeface="张海山锐谐体" charset="0"/>
                <a:ea typeface="Noto Sans S Chinese Bold" panose="020B0800000000000000" pitchFamily="34" charset="-122"/>
                <a:cs typeface="张海山锐谐体" charset="0"/>
              </a:defRPr>
            </a:lvl1pPr>
          </a:lstStyle>
          <a:p>
            <a:pPr algn="ctr"/>
            <a:endParaRPr lang="en-US" altLang="zh-C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 userDrawn="1"/>
        </p:nvSpPr>
        <p:spPr>
          <a:xfrm>
            <a:off x="0" y="265430"/>
            <a:ext cx="126365" cy="587375"/>
          </a:xfrm>
          <a:prstGeom prst="rect">
            <a:avLst/>
          </a:prstGeom>
          <a:solidFill>
            <a:srgbClr val="004E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7" name="图片 6" descr="로고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759440" y="227965"/>
            <a:ext cx="1319530" cy="662940"/>
          </a:xfrm>
          <a:prstGeom prst="rect">
            <a:avLst/>
          </a:prstGeom>
        </p:spPr>
      </p:pic>
      <p:sp>
        <p:nvSpPr>
          <p:cNvPr id="8" name="文本框 7"/>
          <p:cNvSpPr txBox="1"/>
          <p:nvPr userDrawn="1"/>
        </p:nvSpPr>
        <p:spPr>
          <a:xfrm>
            <a:off x="0" y="6581001"/>
            <a:ext cx="7213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altLang="zh-CN" sz="1200" kern="1200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Copyright © 2022 by Cowin Technology</a:t>
            </a:r>
            <a:r>
              <a:rPr lang="zh-CN" altLang="en-US" sz="1200" kern="1200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  <a:ea typeface="+mn-ea"/>
                <a:cs typeface="+mn-cs"/>
              </a:rPr>
              <a:t> </a:t>
            </a:r>
            <a:r>
              <a:rPr lang="en-US" altLang="zh-CN" sz="1200" kern="1200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Co.,</a:t>
            </a:r>
            <a:r>
              <a:rPr lang="zh-CN" altLang="en-US" sz="1200" kern="1200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  <a:ea typeface="+mn-ea"/>
                <a:cs typeface="+mn-cs"/>
              </a:rPr>
              <a:t> </a:t>
            </a:r>
            <a:r>
              <a:rPr lang="en-US" altLang="zh-CN" sz="1200" kern="1200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Ltd</a:t>
            </a:r>
            <a:r>
              <a:rPr lang="es-ES" altLang="zh-CN" sz="1200" kern="1200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. All rights reserved.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1"/>
          <p:cNvPicPr>
            <a:picLocks noGrp="1" noChangeAspect="1"/>
          </p:cNvPicPr>
          <p:nvPr userDrawn="1"/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439" r="28439"/>
          <a:stretch>
            <a:fillRect/>
          </a:stretch>
        </p:blipFill>
        <p:spPr>
          <a:xfrm flipH="1">
            <a:off x="6865749" y="-150102"/>
            <a:ext cx="5372421" cy="70081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Rectangle 10"/>
          <p:cNvSpPr/>
          <p:nvPr userDrawn="1"/>
        </p:nvSpPr>
        <p:spPr>
          <a:xfrm>
            <a:off x="6865750" y="0"/>
            <a:ext cx="5372420" cy="6871784"/>
          </a:xfrm>
          <a:prstGeom prst="rect">
            <a:avLst/>
          </a:prstGeom>
          <a:gradFill>
            <a:gsLst>
              <a:gs pos="34000">
                <a:srgbClr val="014FA3">
                  <a:alpha val="44000"/>
                </a:srgbClr>
              </a:gs>
              <a:gs pos="100000">
                <a:srgbClr val="014FA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2400" dirty="0">
              <a:solidFill>
                <a:srgbClr val="FFFFFF"/>
              </a:solidFill>
              <a:latin typeface="Montserrat Light" panose="00000400000000000000" charset="0"/>
            </a:endParaRPr>
          </a:p>
        </p:txBody>
      </p:sp>
      <p:cxnSp>
        <p:nvCxnSpPr>
          <p:cNvPr id="10" name="直接连接符 30"/>
          <p:cNvCxnSpPr/>
          <p:nvPr userDrawn="1"/>
        </p:nvCxnSpPr>
        <p:spPr>
          <a:xfrm>
            <a:off x="9381419" y="3930468"/>
            <a:ext cx="501015" cy="0"/>
          </a:xfrm>
          <a:prstGeom prst="line">
            <a:avLst/>
          </a:prstGeom>
          <a:ln w="63500" cap="rnd">
            <a:solidFill>
              <a:srgbClr val="004EA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 userDrawn="1"/>
        </p:nvSpPr>
        <p:spPr>
          <a:xfrm>
            <a:off x="8210301" y="2615451"/>
            <a:ext cx="2910321" cy="780629"/>
          </a:xfrm>
          <a:prstGeom prst="rect">
            <a:avLst/>
          </a:prstGeom>
        </p:spPr>
        <p:txBody>
          <a:bodyPr lIns="90000" tIns="46800" rIns="90000" bIns="46800" anchor="ctr">
            <a:normAutofit fontScale="95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blipFill>
                  <a:blip r:embed="rId3"/>
                  <a:stretch>
                    <a:fillRect/>
                  </a:stretch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blipFill>
                  <a:blip r:embed="rId3"/>
                  <a:stretch>
                    <a:fillRect/>
                  </a:stretch>
                </a:blipFill>
                <a:latin typeface="Noto Sans S Chinese Bold" panose="020B0800000000000000" pitchFamily="34" charset="-122"/>
                <a:ea typeface="Noto Sans S Chinese Bold" panose="020B0800000000000000" pitchFamily="34" charset="-122"/>
                <a:sym typeface="+mn-ea"/>
              </a:rPr>
              <a:t>联系我们</a:t>
            </a:r>
          </a:p>
        </p:txBody>
      </p:sp>
      <p:sp>
        <p:nvSpPr>
          <p:cNvPr id="12" name="文本框 11"/>
          <p:cNvSpPr txBox="1"/>
          <p:nvPr userDrawn="1"/>
        </p:nvSpPr>
        <p:spPr>
          <a:xfrm>
            <a:off x="8761976" y="3398004"/>
            <a:ext cx="1739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Light" panose="02000000000000000000" charset="0"/>
                <a:ea typeface="OPPOSans M" panose="00020600040101010101" pitchFamily="18" charset="-122"/>
                <a:cs typeface="Roboto Light" panose="02000000000000000000" charset="0"/>
              </a:rPr>
              <a:t>CONTACT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Light" panose="02000000000000000000" charset="0"/>
                <a:ea typeface="OPPOSans M" panose="00020600040101010101" pitchFamily="18" charset="-122"/>
                <a:cs typeface="Roboto Light" panose="02000000000000000000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Light" panose="02000000000000000000" charset="0"/>
                <a:ea typeface="OPPOSans M" panose="00020600040101010101" pitchFamily="18" charset="-122"/>
                <a:cs typeface="Roboto Light" panose="02000000000000000000" charset="0"/>
              </a:rPr>
              <a:t>US</a:t>
            </a:r>
          </a:p>
        </p:txBody>
      </p:sp>
      <p:sp>
        <p:nvSpPr>
          <p:cNvPr id="16" name="矩形 15"/>
          <p:cNvSpPr/>
          <p:nvPr userDrawn="1"/>
        </p:nvSpPr>
        <p:spPr>
          <a:xfrm>
            <a:off x="588421" y="5370413"/>
            <a:ext cx="5745001" cy="9220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eaLnBrk="0" fontAlgn="ctr" latinLnBrk="0" hangingPunct="0">
              <a:lnSpc>
                <a:spcPct val="150000"/>
              </a:lnSpc>
            </a:pPr>
            <a:r>
              <a:rPr lang="zh-CN" altLang="en-US" sz="1200" dirty="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总部：   </a:t>
            </a:r>
            <a:r>
              <a:rPr lang="en-US" altLang="zh-CN" sz="1200" dirty="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 </a:t>
            </a:r>
            <a:r>
              <a:rPr lang="zh-CN" altLang="en-US" sz="1200" dirty="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北京市经济技术开发区西环南路</a:t>
            </a:r>
            <a:r>
              <a:rPr lang="en-US" altLang="zh-CN" sz="1200" dirty="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26</a:t>
            </a:r>
            <a:r>
              <a:rPr lang="zh-CN" altLang="en-US" sz="1200" dirty="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号院</a:t>
            </a:r>
            <a:r>
              <a:rPr lang="en-US" altLang="zh-CN" sz="1200" dirty="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30</a:t>
            </a:r>
            <a:r>
              <a:rPr lang="zh-CN" altLang="en-US" sz="1200" dirty="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号楼</a:t>
            </a:r>
            <a:r>
              <a:rPr lang="en-US" altLang="zh-CN" sz="1200" dirty="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605</a:t>
            </a:r>
            <a:r>
              <a:rPr lang="zh-CN" altLang="en-US" sz="1200" dirty="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室</a:t>
            </a:r>
            <a:endParaRPr lang="en-US" altLang="zh-CN" sz="1200" dirty="0">
              <a:solidFill>
                <a:srgbClr val="004EA2"/>
              </a:solidFill>
              <a:latin typeface="Noto Sans S Chinese Light" panose="020B0300000000000000" pitchFamily="34" charset="-122"/>
              <a:ea typeface="Noto Sans S Chinese Light" panose="020B0300000000000000" pitchFamily="34" charset="-122"/>
              <a:cs typeface="Noto Sans S Chinese Light" panose="020B0300000000000000" pitchFamily="34" charset="-122"/>
              <a:sym typeface="Arial" panose="020B0604020202020204" pitchFamily="34" charset="0"/>
            </a:endParaRPr>
          </a:p>
          <a:p>
            <a:pPr eaLnBrk="0" fontAlgn="ctr" latinLnBrk="0" hangingPunct="0">
              <a:lnSpc>
                <a:spcPct val="150000"/>
              </a:lnSpc>
            </a:pPr>
            <a:r>
              <a:rPr lang="zh-CN" altLang="en-US" sz="1200" dirty="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苏州：    </a:t>
            </a:r>
            <a:r>
              <a:rPr sz="1200" dirty="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苏州市工业园区中新生态大厦715</a:t>
            </a:r>
          </a:p>
          <a:p>
            <a:pPr eaLnBrk="0" fontAlgn="ctr" hangingPunct="0">
              <a:lnSpc>
                <a:spcPct val="150000"/>
              </a:lnSpc>
            </a:pPr>
            <a:r>
              <a:rPr lang="zh-CN" altLang="en-US" sz="1200" dirty="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无锡：    </a:t>
            </a:r>
            <a:r>
              <a:rPr sz="1200" dirty="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无锡市滨湖区恒华科技园21栋301</a:t>
            </a:r>
          </a:p>
        </p:txBody>
      </p:sp>
      <p:sp>
        <p:nvSpPr>
          <p:cNvPr id="18" name="饼形 17"/>
          <p:cNvSpPr/>
          <p:nvPr userDrawn="1"/>
        </p:nvSpPr>
        <p:spPr>
          <a:xfrm rot="16200000">
            <a:off x="3187487" y="806004"/>
            <a:ext cx="252000" cy="5868000"/>
          </a:xfrm>
          <a:prstGeom prst="pie">
            <a:avLst>
              <a:gd name="adj1" fmla="val 5410359"/>
              <a:gd name="adj2" fmla="val 16200000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BCB9B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22" name="标题 21"/>
          <p:cNvSpPr>
            <a:spLocks noGrp="1"/>
          </p:cNvSpPr>
          <p:nvPr>
            <p:ph type="ctrTitle" hasCustomPrompt="1"/>
          </p:nvPr>
        </p:nvSpPr>
        <p:spPr>
          <a:xfrm>
            <a:off x="445135" y="1804670"/>
            <a:ext cx="5568315" cy="1961515"/>
          </a:xfrm>
        </p:spPr>
        <p:txBody>
          <a:bodyPr anchor="ctr"/>
          <a:lstStyle>
            <a:lvl1pPr>
              <a:defRPr kumimoji="0" lang="zh-CN" altLang="en-US" sz="4000" b="1" i="0" u="none" strike="noStrike" kern="1200" cap="none" spc="0" normalizeH="0" baseline="0" noProof="1" dirty="0">
                <a:solidFill>
                  <a:srgbClr val="0050A4"/>
                </a:solidFill>
                <a:latin typeface="张海山锐谐体" charset="0"/>
                <a:ea typeface="Noto Sans S Chinese Bold" panose="020B0800000000000000" pitchFamily="34" charset="-122"/>
                <a:cs typeface="张海山锐谐体" charset="0"/>
              </a:defRPr>
            </a:lvl1pPr>
          </a:lstStyle>
          <a:p>
            <a:pPr algn="ctr"/>
            <a:endParaRPr lang="en-US" altLang="zh-C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2F3D4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rgbClr val="2F3D46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rgbClr val="2F3D46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rgbClr val="2F3D46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F3D46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rgbClr val="2F3D46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4.xml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tags" Target="../tags/tag17.xml"/><Relationship Id="rId18" Type="http://schemas.openxmlformats.org/officeDocument/2006/relationships/tags" Target="../tags/tag22.xml"/><Relationship Id="rId26" Type="http://schemas.openxmlformats.org/officeDocument/2006/relationships/tags" Target="../tags/tag30.xml"/><Relationship Id="rId3" Type="http://schemas.openxmlformats.org/officeDocument/2006/relationships/tags" Target="../tags/tag7.xml"/><Relationship Id="rId21" Type="http://schemas.openxmlformats.org/officeDocument/2006/relationships/tags" Target="../tags/tag25.xml"/><Relationship Id="rId34" Type="http://schemas.openxmlformats.org/officeDocument/2006/relationships/notesSlide" Target="../notesSlides/notesSlide3.xml"/><Relationship Id="rId7" Type="http://schemas.openxmlformats.org/officeDocument/2006/relationships/tags" Target="../tags/tag11.xml"/><Relationship Id="rId12" Type="http://schemas.openxmlformats.org/officeDocument/2006/relationships/tags" Target="../tags/tag16.xml"/><Relationship Id="rId17" Type="http://schemas.openxmlformats.org/officeDocument/2006/relationships/tags" Target="../tags/tag21.xml"/><Relationship Id="rId25" Type="http://schemas.openxmlformats.org/officeDocument/2006/relationships/tags" Target="../tags/tag29.xml"/><Relationship Id="rId33" Type="http://schemas.openxmlformats.org/officeDocument/2006/relationships/slideLayout" Target="../slideLayouts/slideLayout3.xml"/><Relationship Id="rId2" Type="http://schemas.openxmlformats.org/officeDocument/2006/relationships/tags" Target="../tags/tag6.xml"/><Relationship Id="rId16" Type="http://schemas.openxmlformats.org/officeDocument/2006/relationships/tags" Target="../tags/tag20.xml"/><Relationship Id="rId20" Type="http://schemas.openxmlformats.org/officeDocument/2006/relationships/tags" Target="../tags/tag24.xml"/><Relationship Id="rId29" Type="http://schemas.openxmlformats.org/officeDocument/2006/relationships/tags" Target="../tags/tag33.xml"/><Relationship Id="rId1" Type="http://schemas.openxmlformats.org/officeDocument/2006/relationships/tags" Target="../tags/tag5.xml"/><Relationship Id="rId6" Type="http://schemas.openxmlformats.org/officeDocument/2006/relationships/tags" Target="../tags/tag10.xml"/><Relationship Id="rId11" Type="http://schemas.openxmlformats.org/officeDocument/2006/relationships/tags" Target="../tags/tag15.xml"/><Relationship Id="rId24" Type="http://schemas.openxmlformats.org/officeDocument/2006/relationships/tags" Target="../tags/tag28.xml"/><Relationship Id="rId32" Type="http://schemas.openxmlformats.org/officeDocument/2006/relationships/tags" Target="../tags/tag36.xml"/><Relationship Id="rId5" Type="http://schemas.openxmlformats.org/officeDocument/2006/relationships/tags" Target="../tags/tag9.xml"/><Relationship Id="rId15" Type="http://schemas.openxmlformats.org/officeDocument/2006/relationships/tags" Target="../tags/tag19.xml"/><Relationship Id="rId23" Type="http://schemas.openxmlformats.org/officeDocument/2006/relationships/tags" Target="../tags/tag27.xml"/><Relationship Id="rId28" Type="http://schemas.openxmlformats.org/officeDocument/2006/relationships/tags" Target="../tags/tag32.xml"/><Relationship Id="rId10" Type="http://schemas.openxmlformats.org/officeDocument/2006/relationships/tags" Target="../tags/tag14.xml"/><Relationship Id="rId19" Type="http://schemas.openxmlformats.org/officeDocument/2006/relationships/tags" Target="../tags/tag23.xml"/><Relationship Id="rId31" Type="http://schemas.openxmlformats.org/officeDocument/2006/relationships/tags" Target="../tags/tag35.xml"/><Relationship Id="rId4" Type="http://schemas.openxmlformats.org/officeDocument/2006/relationships/tags" Target="../tags/tag8.xml"/><Relationship Id="rId9" Type="http://schemas.openxmlformats.org/officeDocument/2006/relationships/tags" Target="../tags/tag13.xml"/><Relationship Id="rId14" Type="http://schemas.openxmlformats.org/officeDocument/2006/relationships/tags" Target="../tags/tag18.xml"/><Relationship Id="rId22" Type="http://schemas.openxmlformats.org/officeDocument/2006/relationships/tags" Target="../tags/tag26.xml"/><Relationship Id="rId27" Type="http://schemas.openxmlformats.org/officeDocument/2006/relationships/tags" Target="../tags/tag31.xml"/><Relationship Id="rId30" Type="http://schemas.openxmlformats.org/officeDocument/2006/relationships/tags" Target="../tags/tag34.xml"/><Relationship Id="rId8" Type="http://schemas.openxmlformats.org/officeDocument/2006/relationships/tags" Target="../tags/tag12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49.xml"/><Relationship Id="rId18" Type="http://schemas.openxmlformats.org/officeDocument/2006/relationships/tags" Target="../tags/tag54.xml"/><Relationship Id="rId26" Type="http://schemas.openxmlformats.org/officeDocument/2006/relationships/tags" Target="../tags/tag62.xml"/><Relationship Id="rId39" Type="http://schemas.openxmlformats.org/officeDocument/2006/relationships/slideLayout" Target="../slideLayouts/slideLayout3.xml"/><Relationship Id="rId21" Type="http://schemas.openxmlformats.org/officeDocument/2006/relationships/tags" Target="../tags/tag57.xml"/><Relationship Id="rId34" Type="http://schemas.openxmlformats.org/officeDocument/2006/relationships/tags" Target="../tags/tag70.xml"/><Relationship Id="rId7" Type="http://schemas.openxmlformats.org/officeDocument/2006/relationships/tags" Target="../tags/tag43.xml"/><Relationship Id="rId12" Type="http://schemas.openxmlformats.org/officeDocument/2006/relationships/tags" Target="../tags/tag48.xml"/><Relationship Id="rId17" Type="http://schemas.openxmlformats.org/officeDocument/2006/relationships/tags" Target="../tags/tag53.xml"/><Relationship Id="rId25" Type="http://schemas.openxmlformats.org/officeDocument/2006/relationships/tags" Target="../tags/tag61.xml"/><Relationship Id="rId33" Type="http://schemas.openxmlformats.org/officeDocument/2006/relationships/tags" Target="../tags/tag69.xml"/><Relationship Id="rId38" Type="http://schemas.openxmlformats.org/officeDocument/2006/relationships/tags" Target="../tags/tag74.xml"/><Relationship Id="rId2" Type="http://schemas.openxmlformats.org/officeDocument/2006/relationships/tags" Target="../tags/tag38.xml"/><Relationship Id="rId16" Type="http://schemas.openxmlformats.org/officeDocument/2006/relationships/tags" Target="../tags/tag52.xml"/><Relationship Id="rId20" Type="http://schemas.openxmlformats.org/officeDocument/2006/relationships/tags" Target="../tags/tag56.xml"/><Relationship Id="rId29" Type="http://schemas.openxmlformats.org/officeDocument/2006/relationships/tags" Target="../tags/tag65.xml"/><Relationship Id="rId1" Type="http://schemas.openxmlformats.org/officeDocument/2006/relationships/tags" Target="../tags/tag37.xml"/><Relationship Id="rId6" Type="http://schemas.openxmlformats.org/officeDocument/2006/relationships/tags" Target="../tags/tag42.xml"/><Relationship Id="rId11" Type="http://schemas.openxmlformats.org/officeDocument/2006/relationships/tags" Target="../tags/tag47.xml"/><Relationship Id="rId24" Type="http://schemas.openxmlformats.org/officeDocument/2006/relationships/tags" Target="../tags/tag60.xml"/><Relationship Id="rId32" Type="http://schemas.openxmlformats.org/officeDocument/2006/relationships/tags" Target="../tags/tag68.xml"/><Relationship Id="rId37" Type="http://schemas.openxmlformats.org/officeDocument/2006/relationships/tags" Target="../tags/tag73.xml"/><Relationship Id="rId40" Type="http://schemas.openxmlformats.org/officeDocument/2006/relationships/notesSlide" Target="../notesSlides/notesSlide4.xml"/><Relationship Id="rId5" Type="http://schemas.openxmlformats.org/officeDocument/2006/relationships/tags" Target="../tags/tag41.xml"/><Relationship Id="rId15" Type="http://schemas.openxmlformats.org/officeDocument/2006/relationships/tags" Target="../tags/tag51.xml"/><Relationship Id="rId23" Type="http://schemas.openxmlformats.org/officeDocument/2006/relationships/tags" Target="../tags/tag59.xml"/><Relationship Id="rId28" Type="http://schemas.openxmlformats.org/officeDocument/2006/relationships/tags" Target="../tags/tag64.xml"/><Relationship Id="rId36" Type="http://schemas.openxmlformats.org/officeDocument/2006/relationships/tags" Target="../tags/tag72.xml"/><Relationship Id="rId10" Type="http://schemas.openxmlformats.org/officeDocument/2006/relationships/tags" Target="../tags/tag46.xml"/><Relationship Id="rId19" Type="http://schemas.openxmlformats.org/officeDocument/2006/relationships/tags" Target="../tags/tag55.xml"/><Relationship Id="rId31" Type="http://schemas.openxmlformats.org/officeDocument/2006/relationships/tags" Target="../tags/tag67.xml"/><Relationship Id="rId4" Type="http://schemas.openxmlformats.org/officeDocument/2006/relationships/tags" Target="../tags/tag40.xml"/><Relationship Id="rId9" Type="http://schemas.openxmlformats.org/officeDocument/2006/relationships/tags" Target="../tags/tag45.xml"/><Relationship Id="rId14" Type="http://schemas.openxmlformats.org/officeDocument/2006/relationships/tags" Target="../tags/tag50.xml"/><Relationship Id="rId22" Type="http://schemas.openxmlformats.org/officeDocument/2006/relationships/tags" Target="../tags/tag58.xml"/><Relationship Id="rId27" Type="http://schemas.openxmlformats.org/officeDocument/2006/relationships/tags" Target="../tags/tag63.xml"/><Relationship Id="rId30" Type="http://schemas.openxmlformats.org/officeDocument/2006/relationships/tags" Target="../tags/tag66.xml"/><Relationship Id="rId35" Type="http://schemas.openxmlformats.org/officeDocument/2006/relationships/tags" Target="../tags/tag71.xml"/><Relationship Id="rId8" Type="http://schemas.openxmlformats.org/officeDocument/2006/relationships/tags" Target="../tags/tag44.xml"/><Relationship Id="rId3" Type="http://schemas.openxmlformats.org/officeDocument/2006/relationships/tags" Target="../tags/tag3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7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kiegroup/drools" TargetMode="External"/><Relationship Id="rId13" Type="http://schemas.openxmlformats.org/officeDocument/2006/relationships/hyperlink" Target="https://github.com/camunda/camunda-modeler" TargetMode="External"/><Relationship Id="rId18" Type="http://schemas.openxmlformats.org/officeDocument/2006/relationships/hyperlink" Target="https://github.com/microsoft/bond" TargetMode="External"/><Relationship Id="rId3" Type="http://schemas.openxmlformats.org/officeDocument/2006/relationships/notesSlide" Target="../notesSlides/notesSlide8.xml"/><Relationship Id="rId7" Type="http://schemas.openxmlformats.org/officeDocument/2006/relationships/hyperlink" Target="https://github.com/kiegroup" TargetMode="External"/><Relationship Id="rId12" Type="http://schemas.openxmlformats.org/officeDocument/2006/relationships/hyperlink" Target="https://github.com/KeRNeLith/QuikGraph/blob/master/LICENSE" TargetMode="External"/><Relationship Id="rId17" Type="http://schemas.openxmlformats.org/officeDocument/2006/relationships/hyperlink" Target="https://github.com/alexreich/RulesEngineEditor/blob/main/LICENSE" TargetMode="External"/><Relationship Id="rId2" Type="http://schemas.openxmlformats.org/officeDocument/2006/relationships/slideLayout" Target="../slideLayouts/slideLayout3.xml"/><Relationship Id="rId16" Type="http://schemas.openxmlformats.org/officeDocument/2006/relationships/hyperlink" Target="https://github.com/alexreich/RulesEngineEditor" TargetMode="External"/><Relationship Id="rId1" Type="http://schemas.openxmlformats.org/officeDocument/2006/relationships/tags" Target="../tags/tag78.xml"/><Relationship Id="rId6" Type="http://schemas.openxmlformats.org/officeDocument/2006/relationships/hyperlink" Target="https://github.com/spring-projects/spring-boot/blob/main/LICENSE.txt" TargetMode="External"/><Relationship Id="rId11" Type="http://schemas.openxmlformats.org/officeDocument/2006/relationships/hyperlink" Target="https://github.com/microsoft/RulesEngine" TargetMode="External"/><Relationship Id="rId5" Type="http://schemas.openxmlformats.org/officeDocument/2006/relationships/hyperlink" Target="https://github.com/microsoft/dotnet/blob/master/LICENSE" TargetMode="External"/><Relationship Id="rId15" Type="http://schemas.openxmlformats.org/officeDocument/2006/relationships/hyperlink" Target="https://github.com/alexreich" TargetMode="External"/><Relationship Id="rId10" Type="http://schemas.openxmlformats.org/officeDocument/2006/relationships/hyperlink" Target="https://github.com/microsoft" TargetMode="External"/><Relationship Id="rId19" Type="http://schemas.openxmlformats.org/officeDocument/2006/relationships/hyperlink" Target="https://www.srcmini.com/43820.html" TargetMode="External"/><Relationship Id="rId4" Type="http://schemas.openxmlformats.org/officeDocument/2006/relationships/hyperlink" Target="https://github.com/openjdk/jdk/blob/master/LICENSE" TargetMode="External"/><Relationship Id="rId9" Type="http://schemas.openxmlformats.org/officeDocument/2006/relationships/hyperlink" Target="http://www.drools.org/" TargetMode="External"/><Relationship Id="rId14" Type="http://schemas.openxmlformats.org/officeDocument/2006/relationships/hyperlink" Target="http://bpmn.io/license" TargetMode="Externa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hyperlink" Target="https://links.jianshu.com/go?to=https%3A%2F%2Fdocs.cucumber.io%2Fgherkin" TargetMode="External"/><Relationship Id="rId3" Type="http://schemas.openxmlformats.org/officeDocument/2006/relationships/notesSlide" Target="../notesSlides/notesSlide9.xml"/><Relationship Id="rId7" Type="http://schemas.openxmlformats.org/officeDocument/2006/relationships/hyperlink" Target="https://github.com/asynkron/protoactor-dotnet" TargetMode="Externa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79.xml"/><Relationship Id="rId6" Type="http://schemas.openxmlformats.org/officeDocument/2006/relationships/hyperlink" Target="https://github.com/asynkron" TargetMode="External"/><Relationship Id="rId5" Type="http://schemas.openxmlformats.org/officeDocument/2006/relationships/hyperlink" Target="https://github.com/spring-projects/spring-boot/blob/main/LICENSE.txt" TargetMode="External"/><Relationship Id="rId10" Type="http://schemas.openxmlformats.org/officeDocument/2006/relationships/hyperlink" Target="https://github.com/HangfireIO/Hangfire" TargetMode="External"/><Relationship Id="rId4" Type="http://schemas.openxmlformats.org/officeDocument/2006/relationships/hyperlink" Target="https://github.com/openjdk/jdk/blob/master/LICENSE" TargetMode="External"/><Relationship Id="rId9" Type="http://schemas.openxmlformats.org/officeDocument/2006/relationships/hyperlink" Target="https://github.com/HangfireIO" TargetMode="Externa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8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tags" Target="../tags/tag81.xml"/><Relationship Id="rId5" Type="http://schemas.openxmlformats.org/officeDocument/2006/relationships/image" Target="../media/image3.png"/><Relationship Id="rId4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文本框 16"/>
          <p:cNvSpPr txBox="1"/>
          <p:nvPr/>
        </p:nvSpPr>
        <p:spPr>
          <a:xfrm>
            <a:off x="305435" y="5134608"/>
            <a:ext cx="8653214" cy="11676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总部：北京市经济技术开发区西环南路</a:t>
            </a:r>
            <a:r>
              <a:rPr lang="en-US" altLang="zh-CN" sz="120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26</a:t>
            </a:r>
            <a:r>
              <a:rPr lang="zh-CN" altLang="en-US" sz="120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号院</a:t>
            </a:r>
            <a:r>
              <a:rPr lang="en-US" altLang="zh-CN" sz="120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30</a:t>
            </a:r>
            <a:r>
              <a:rPr lang="zh-CN" altLang="en-US" sz="120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号楼</a:t>
            </a:r>
            <a:r>
              <a:rPr lang="en-US" altLang="zh-CN" sz="120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605</a:t>
            </a:r>
            <a:r>
              <a:rPr lang="zh-CN" altLang="en-US" sz="120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室</a:t>
            </a:r>
            <a:endParaRPr lang="en-US" altLang="zh-CN" sz="1200" dirty="0">
              <a:solidFill>
                <a:srgbClr val="004EA2"/>
              </a:solidFill>
              <a:latin typeface="Noto Sans S Chinese Light" panose="020B0300000000000000" pitchFamily="34" charset="-122"/>
              <a:ea typeface="Noto Sans S Chinese Light" panose="020B0300000000000000" pitchFamily="34" charset="-122"/>
              <a:cs typeface="Noto Sans S Chinese Light" panose="020B0300000000000000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苏州：苏州市工业园区中新生态大厦</a:t>
            </a:r>
            <a:r>
              <a:rPr lang="en-US" altLang="zh-CN" sz="120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715        </a:t>
            </a:r>
            <a:endParaRPr lang="en-US" altLang="zh-CN" sz="1200" dirty="0">
              <a:solidFill>
                <a:srgbClr val="004EA2"/>
              </a:solidFill>
              <a:latin typeface="Noto Sans S Chinese Light" panose="020B0300000000000000" pitchFamily="34" charset="-122"/>
              <a:ea typeface="Noto Sans S Chinese Light" panose="020B0300000000000000" pitchFamily="34" charset="-122"/>
              <a:cs typeface="Noto Sans S Chinese Light" panose="020B0300000000000000" pitchFamily="34" charset="-122"/>
              <a:sym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无锡：无锡市滨湖区恒华科技园</a:t>
            </a:r>
            <a:r>
              <a:rPr lang="en-US" altLang="zh-CN" sz="120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21</a:t>
            </a:r>
            <a:r>
              <a:rPr lang="zh-CN" altLang="en-US" sz="120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栋</a:t>
            </a:r>
            <a:r>
              <a:rPr lang="en-US" altLang="zh-CN" sz="1200">
                <a:solidFill>
                  <a:srgbClr val="004EA2"/>
                </a:solidFill>
                <a:latin typeface="Noto Sans S Chinese Light" panose="020B0300000000000000" pitchFamily="34" charset="-122"/>
                <a:ea typeface="Noto Sans S Chinese Light" panose="020B0300000000000000" pitchFamily="34" charset="-122"/>
                <a:cs typeface="Noto Sans S Chinese Light" panose="020B0300000000000000" pitchFamily="34" charset="-122"/>
                <a:sym typeface="Arial" panose="020B0604020202020204" pitchFamily="34" charset="0"/>
              </a:rPr>
              <a:t>301</a:t>
            </a:r>
          </a:p>
        </p:txBody>
      </p:sp>
      <p:sp>
        <p:nvSpPr>
          <p:cNvPr id="22" name="标题 21"/>
          <p:cNvSpPr>
            <a:spLocks noGrp="1"/>
          </p:cNvSpPr>
          <p:nvPr>
            <p:ph type="ctrTitle"/>
          </p:nvPr>
        </p:nvSpPr>
        <p:spPr>
          <a:xfrm>
            <a:off x="0" y="1223010"/>
            <a:ext cx="12192000" cy="2951480"/>
          </a:xfrm>
        </p:spPr>
        <p:txBody>
          <a:bodyPr anchor="ctr"/>
          <a:lstStyle/>
          <a:p>
            <a:pPr algn="ctr"/>
            <a:r>
              <a:rPr lang="en-US" altLang="zh-CN" sz="4800" dirty="0">
                <a:blipFill>
                  <a:blip r:embed="rId3"/>
                  <a:stretch>
                    <a:fillRect/>
                  </a:stretch>
                </a:blipFill>
                <a:latin typeface="Noto Sans S Chinese Bold" panose="020B0800000000000000" pitchFamily="34" charset="-122"/>
                <a:ea typeface="Noto Sans S Chinese Bold" panose="020B0800000000000000" pitchFamily="34" charset="-122"/>
                <a:sym typeface="+mn-ea"/>
              </a:rPr>
              <a:t>MES</a:t>
            </a:r>
            <a:r>
              <a:rPr lang="zh-CN" altLang="en-US" sz="4800">
                <a:blipFill>
                  <a:blip r:embed="rId3"/>
                  <a:stretch>
                    <a:fillRect/>
                  </a:stretch>
                </a:blipFill>
                <a:latin typeface="Noto Sans S Chinese Bold" panose="020B0800000000000000" pitchFamily="34" charset="-122"/>
                <a:ea typeface="Noto Sans S Chinese Bold" panose="020B0800000000000000" pitchFamily="34" charset="-122"/>
                <a:sym typeface="+mn-ea"/>
              </a:rPr>
              <a:t>产品规划</a:t>
            </a:r>
            <a:endParaRPr lang="zh-CN" altLang="en-US" sz="4800" dirty="0">
              <a:blipFill>
                <a:blip r:embed="rId3"/>
                <a:stretch>
                  <a:fillRect/>
                </a:stretch>
              </a:blipFill>
              <a:latin typeface="Noto Sans S Chinese Bold" panose="020B0800000000000000" pitchFamily="34" charset="-122"/>
              <a:ea typeface="Noto Sans S Chinese Bold" panose="020B0800000000000000" pitchFamily="3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69239" y="376555"/>
            <a:ext cx="7354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细分行业</a:t>
            </a:r>
          </a:p>
        </p:txBody>
      </p:sp>
      <p:graphicFrame>
        <p:nvGraphicFramePr>
          <p:cNvPr id="2" name="表格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5243673"/>
              </p:ext>
            </p:extLst>
          </p:nvPr>
        </p:nvGraphicFramePr>
        <p:xfrm>
          <a:off x="245806" y="940892"/>
          <a:ext cx="11788877" cy="466968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2868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04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435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844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398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398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9426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12</a:t>
                      </a:r>
                      <a:r>
                        <a:rPr lang="zh-CN" altLang="en-US" dirty="0"/>
                        <a:t>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8</a:t>
                      </a:r>
                      <a:r>
                        <a:rPr lang="zh-CN" altLang="en-US" dirty="0"/>
                        <a:t>寸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MEMS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大硅片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/>
                        <a:t>先进封装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023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cvMES1.0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8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cvMES2.0</a:t>
                      </a: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</a:t>
                      </a: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万片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？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支持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49426"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046270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69239" y="376555"/>
            <a:ext cx="7354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cvMES1.0</a:t>
            </a:r>
            <a:r>
              <a:rPr lang="zh-CN" altLang="en-US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产品路线图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045BCD8B-33A8-ED9D-3866-C8F70B5008E0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0" y="3642496"/>
            <a:ext cx="12192000" cy="0"/>
          </a:xfrm>
          <a:prstGeom prst="line">
            <a:avLst/>
          </a:prstGeom>
          <a:noFill/>
          <a:ln w="28575" cap="flat" cmpd="sng">
            <a:solidFill>
              <a:srgbClr val="A8C8B8"/>
            </a:solidFill>
            <a:prstDash val="sysDash"/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4" name="椭圆 6">
            <a:extLst>
              <a:ext uri="{FF2B5EF4-FFF2-40B4-BE49-F238E27FC236}">
                <a16:creationId xmlns:a16="http://schemas.microsoft.com/office/drawing/2014/main" id="{68779F44-3CB8-7C36-FA78-358A90805F8B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flipV="1">
            <a:off x="967297" y="3525021"/>
            <a:ext cx="234950" cy="234950"/>
          </a:xfrm>
          <a:prstGeom prst="ellipse">
            <a:avLst/>
          </a:prstGeom>
          <a:solidFill>
            <a:srgbClr val="DB81B1"/>
          </a:solidFill>
          <a:ln w="38100" cap="flat" cmpd="sng">
            <a:solidFill>
              <a:srgbClr val="A8C8B8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5" name="椭圆 12">
            <a:extLst>
              <a:ext uri="{FF2B5EF4-FFF2-40B4-BE49-F238E27FC236}">
                <a16:creationId xmlns:a16="http://schemas.microsoft.com/office/drawing/2014/main" id="{EFC6FE72-E361-94C3-972C-BEA04FAD076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03772" y="1910533"/>
            <a:ext cx="762000" cy="762000"/>
          </a:xfrm>
          <a:prstGeom prst="ellipse">
            <a:avLst/>
          </a:prstGeom>
          <a:solidFill>
            <a:srgbClr val="A8C8B8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直接连接符 14">
            <a:extLst>
              <a:ext uri="{FF2B5EF4-FFF2-40B4-BE49-F238E27FC236}">
                <a16:creationId xmlns:a16="http://schemas.microsoft.com/office/drawing/2014/main" id="{4BC5A0D1-21E5-8849-02CC-6B2221F16B27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084772" y="2672533"/>
            <a:ext cx="1588" cy="862013"/>
          </a:xfrm>
          <a:prstGeom prst="line">
            <a:avLst/>
          </a:prstGeom>
          <a:noFill/>
          <a:ln w="6350" cap="flat" cmpd="sng">
            <a:solidFill>
              <a:srgbClr val="A8C8B8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4E8-B375-BC43-C0A4-A9B879A5B90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57667" y="1864427"/>
            <a:ext cx="854212" cy="8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defRPr sz="1400">
                <a:solidFill>
                  <a:srgbClr val="FFFFFF"/>
                </a:solidFill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1200" dirty="0">
                <a:latin typeface="+mn-ea"/>
                <a:ea typeface="+mn-ea"/>
              </a:rPr>
              <a:t>2023.05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65CCD4-6930-EACD-5873-29B7B40C42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552859" y="1823423"/>
            <a:ext cx="2103002" cy="453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b" anchorCtr="0">
            <a:normAutofit/>
          </a:bodyPr>
          <a:lstStyle>
            <a:defPPr>
              <a:defRPr lang="zh-CN"/>
            </a:defPPr>
            <a:lvl1pPr>
              <a:defRPr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基线版本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ACB850-E16E-CF01-0E15-55EFD9DBD008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552858" y="2293322"/>
            <a:ext cx="2104442" cy="98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满足</a:t>
            </a: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Auto1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需求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5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万片</a:t>
            </a: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8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寸</a:t>
            </a: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/12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寸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MEMS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大硅片工厂</a:t>
            </a:r>
          </a:p>
        </p:txBody>
      </p:sp>
      <p:sp>
        <p:nvSpPr>
          <p:cNvPr id="11" name="椭圆 7">
            <a:extLst>
              <a:ext uri="{FF2B5EF4-FFF2-40B4-BE49-F238E27FC236}">
                <a16:creationId xmlns:a16="http://schemas.microsoft.com/office/drawing/2014/main" id="{11C7D68E-68BE-23BA-44F2-7BC6E50D5E7E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flipV="1">
            <a:off x="3012681" y="3525021"/>
            <a:ext cx="234950" cy="234950"/>
          </a:xfrm>
          <a:prstGeom prst="ellipse">
            <a:avLst/>
          </a:prstGeom>
          <a:solidFill>
            <a:srgbClr val="DB81B1"/>
          </a:solidFill>
          <a:ln w="38100" cap="flat" cmpd="sng">
            <a:solidFill>
              <a:srgbClr val="A8C8B8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2" name="椭圆 23">
            <a:extLst>
              <a:ext uri="{FF2B5EF4-FFF2-40B4-BE49-F238E27FC236}">
                <a16:creationId xmlns:a16="http://schemas.microsoft.com/office/drawing/2014/main" id="{DDA58017-9DD1-E18A-5806-B902D079B801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 flipV="1">
            <a:off x="2749156" y="4628333"/>
            <a:ext cx="762000" cy="762000"/>
          </a:xfrm>
          <a:prstGeom prst="ellipse">
            <a:avLst/>
          </a:prstGeom>
          <a:solidFill>
            <a:srgbClr val="A8C8B8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" name="直接连接符 24">
            <a:extLst>
              <a:ext uri="{FF2B5EF4-FFF2-40B4-BE49-F238E27FC236}">
                <a16:creationId xmlns:a16="http://schemas.microsoft.com/office/drawing/2014/main" id="{333DE241-579D-4E62-EB4B-9AD5B5D0D5C1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V="1">
            <a:off x="3130156" y="3764733"/>
            <a:ext cx="0" cy="863600"/>
          </a:xfrm>
          <a:prstGeom prst="line">
            <a:avLst/>
          </a:prstGeom>
          <a:noFill/>
          <a:ln w="6350" cap="flat" cmpd="sng">
            <a:solidFill>
              <a:srgbClr val="A8C8B8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4093442-48A0-DE03-AA22-709AEA4CCAE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703051" y="4582227"/>
            <a:ext cx="854212" cy="8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defRPr sz="1400">
                <a:solidFill>
                  <a:srgbClr val="FFFFFF"/>
                </a:solidFill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1200" dirty="0">
                <a:latin typeface="+mn-ea"/>
                <a:ea typeface="+mn-ea"/>
              </a:rPr>
              <a:t>2023.12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E09A63A-BD13-EC7E-ACB8-0E0B778418F4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569212" y="4411401"/>
            <a:ext cx="2103002" cy="453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b" anchorCtr="0">
            <a:normAutofit/>
          </a:bodyPr>
          <a:lstStyle>
            <a:defPPr>
              <a:defRPr lang="zh-CN"/>
            </a:defPPr>
            <a:lvl1pPr>
              <a:defRPr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cvMES1.0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895309-7DB2-32EC-62F7-15B891DB395B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3569211" y="4881300"/>
            <a:ext cx="2260038" cy="98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7500"/>
          </a:bodyPr>
          <a:lstStyle>
            <a:defPPr>
              <a:defRPr lang="zh-CN"/>
            </a:defPPr>
            <a:lvl1pPr algn="ctr">
              <a:defRPr sz="1400"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基本满足</a:t>
            </a: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Auto2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需求</a:t>
            </a:r>
          </a:p>
          <a:p>
            <a:pPr algn="l"/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5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万片</a:t>
            </a: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12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寸半导体工厂</a:t>
            </a:r>
          </a:p>
        </p:txBody>
      </p:sp>
      <p:sp>
        <p:nvSpPr>
          <p:cNvPr id="17" name="椭圆 9">
            <a:extLst>
              <a:ext uri="{FF2B5EF4-FFF2-40B4-BE49-F238E27FC236}">
                <a16:creationId xmlns:a16="http://schemas.microsoft.com/office/drawing/2014/main" id="{D29168F2-3D8D-A849-F7C6-737578F708A6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 flipV="1">
            <a:off x="9093188" y="3525021"/>
            <a:ext cx="234950" cy="234950"/>
          </a:xfrm>
          <a:prstGeom prst="ellipse">
            <a:avLst/>
          </a:prstGeom>
          <a:solidFill>
            <a:srgbClr val="DB81B1"/>
          </a:solidFill>
          <a:ln w="38100" cap="flat" cmpd="sng">
            <a:solidFill>
              <a:srgbClr val="A8C8B8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8" name="椭圆 15">
            <a:extLst>
              <a:ext uri="{FF2B5EF4-FFF2-40B4-BE49-F238E27FC236}">
                <a16:creationId xmlns:a16="http://schemas.microsoft.com/office/drawing/2014/main" id="{134F319C-B241-C3F7-1C9D-A4CE025C1693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8813788" y="1896246"/>
            <a:ext cx="762000" cy="762000"/>
          </a:xfrm>
          <a:prstGeom prst="ellipse">
            <a:avLst/>
          </a:prstGeom>
          <a:solidFill>
            <a:srgbClr val="A8C8B8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9" name="直接连接符 16">
            <a:extLst>
              <a:ext uri="{FF2B5EF4-FFF2-40B4-BE49-F238E27FC236}">
                <a16:creationId xmlns:a16="http://schemas.microsoft.com/office/drawing/2014/main" id="{1AD2BFB1-FD47-E58A-E657-B85F30930554}"/>
              </a:ext>
            </a:extLst>
          </p:cNvPr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9194788" y="2658246"/>
            <a:ext cx="0" cy="863600"/>
          </a:xfrm>
          <a:prstGeom prst="line">
            <a:avLst/>
          </a:prstGeom>
          <a:noFill/>
          <a:ln w="6350" cap="flat" cmpd="sng">
            <a:solidFill>
              <a:srgbClr val="A8C8B8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2D4F6F2-4D35-1F99-7699-62288B7070B5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767682" y="1854109"/>
            <a:ext cx="854212" cy="8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defRPr sz="1400">
                <a:solidFill>
                  <a:srgbClr val="FFFFFF"/>
                </a:solidFill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1200" dirty="0">
                <a:latin typeface="+mn-ea"/>
                <a:ea typeface="+mn-ea"/>
              </a:rPr>
              <a:t>2025.06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804A8E-CE00-0B77-ADED-5BD1B40B49AD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9629577" y="1823423"/>
            <a:ext cx="2103002" cy="453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b" anchorCtr="0">
            <a:normAutofit/>
          </a:bodyPr>
          <a:lstStyle>
            <a:defPPr>
              <a:defRPr lang="zh-CN"/>
            </a:defPPr>
            <a:lvl1pPr>
              <a:defRPr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冻结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658B62-6CEB-E252-BC1F-27F588BB6BC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9629576" y="2293322"/>
            <a:ext cx="2104442" cy="98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7500"/>
          </a:bodyPr>
          <a:lstStyle>
            <a:defPPr>
              <a:defRPr lang="zh-CN"/>
            </a:defPPr>
            <a:lvl1pPr algn="ctr">
              <a:defRPr sz="1400"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1800" dirty="0">
                <a:solidFill>
                  <a:srgbClr val="000000"/>
                </a:solidFill>
                <a:latin typeface="+mn-ea"/>
                <a:ea typeface="+mn-ea"/>
              </a:rPr>
              <a:t>已有项目支持迭代</a:t>
            </a:r>
            <a:endParaRPr lang="en-US" altLang="zh-CN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1800" dirty="0">
                <a:solidFill>
                  <a:srgbClr val="000000"/>
                </a:solidFill>
                <a:latin typeface="+mn-ea"/>
                <a:ea typeface="+mn-ea"/>
              </a:rPr>
              <a:t>不在更新功能</a:t>
            </a:r>
          </a:p>
        </p:txBody>
      </p:sp>
      <p:sp>
        <p:nvSpPr>
          <p:cNvPr id="23" name="椭圆 8">
            <a:extLst>
              <a:ext uri="{FF2B5EF4-FFF2-40B4-BE49-F238E27FC236}">
                <a16:creationId xmlns:a16="http://schemas.microsoft.com/office/drawing/2014/main" id="{15B9294E-10BB-8D6C-D500-3328441FACF1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 flipV="1">
            <a:off x="7033439" y="3525021"/>
            <a:ext cx="234950" cy="234950"/>
          </a:xfrm>
          <a:prstGeom prst="ellipse">
            <a:avLst/>
          </a:prstGeom>
          <a:solidFill>
            <a:srgbClr val="DB81B1"/>
          </a:solidFill>
          <a:ln w="38100" cap="flat" cmpd="sng">
            <a:solidFill>
              <a:srgbClr val="A8C8B8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4" name="椭圆 28">
            <a:extLst>
              <a:ext uri="{FF2B5EF4-FFF2-40B4-BE49-F238E27FC236}">
                <a16:creationId xmlns:a16="http://schemas.microsoft.com/office/drawing/2014/main" id="{92F415B2-1953-B10D-2C6B-CE722698C323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 flipV="1">
            <a:off x="6769914" y="4102871"/>
            <a:ext cx="762000" cy="762000"/>
          </a:xfrm>
          <a:prstGeom prst="ellipse">
            <a:avLst/>
          </a:prstGeom>
          <a:solidFill>
            <a:srgbClr val="A8C8B8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F46F74D-DC36-F55A-B1EF-67CDE82824DB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723807" y="4058353"/>
            <a:ext cx="854212" cy="8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defRPr sz="1400">
                <a:solidFill>
                  <a:srgbClr val="FFFFFF"/>
                </a:solidFill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1200" dirty="0">
                <a:latin typeface="+mn-ea"/>
                <a:ea typeface="+mn-ea"/>
              </a:rPr>
              <a:t>2024.12</a:t>
            </a:r>
          </a:p>
        </p:txBody>
      </p:sp>
      <p:sp>
        <p:nvSpPr>
          <p:cNvPr id="27" name="直接连接符 29">
            <a:extLst>
              <a:ext uri="{FF2B5EF4-FFF2-40B4-BE49-F238E27FC236}">
                <a16:creationId xmlns:a16="http://schemas.microsoft.com/office/drawing/2014/main" id="{905E79CE-275B-E4B2-B270-D4D95C8A0085}"/>
              </a:ext>
            </a:extLst>
          </p:cNvPr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 flipV="1">
            <a:off x="7150914" y="3759971"/>
            <a:ext cx="1588" cy="344487"/>
          </a:xfrm>
          <a:prstGeom prst="line">
            <a:avLst/>
          </a:prstGeom>
          <a:noFill/>
          <a:ln w="6350" cap="flat" cmpd="sng">
            <a:solidFill>
              <a:srgbClr val="A8C8B8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85F3A8F-A580-116A-204C-9AC4161B06A9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7617492" y="4061357"/>
            <a:ext cx="2103002" cy="453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b" anchorCtr="0">
            <a:normAutofit/>
          </a:bodyPr>
          <a:lstStyle>
            <a:defPPr>
              <a:defRPr lang="zh-CN"/>
            </a:defPPr>
            <a:lvl1pPr>
              <a:defRPr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cvMES1.2</a:t>
            </a:r>
            <a:endParaRPr lang="zh-CN" altLang="en-US" b="1" dirty="0">
              <a:solidFill>
                <a:srgbClr val="00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DBE1DB0-E16A-149D-1C35-8EC5C7F825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7617490" y="4531256"/>
            <a:ext cx="2260039" cy="98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7500"/>
          </a:bodyPr>
          <a:lstStyle>
            <a:defPPr>
              <a:defRPr lang="zh-CN"/>
            </a:defPPr>
            <a:lvl1pPr algn="ctr">
              <a:defRPr sz="1400"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1800" dirty="0">
                <a:solidFill>
                  <a:srgbClr val="000000"/>
                </a:solidFill>
                <a:latin typeface="+mn-ea"/>
                <a:ea typeface="+mn-ea"/>
              </a:rPr>
              <a:t>功能完善</a:t>
            </a:r>
            <a:endParaRPr lang="en-US" altLang="zh-CN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l"/>
            <a:r>
              <a:rPr lang="zh-CN" altLang="en-US" sz="1800" dirty="0">
                <a:solidFill>
                  <a:srgbClr val="000000"/>
                </a:solidFill>
                <a:latin typeface="+mn-ea"/>
                <a:ea typeface="+mn-ea"/>
              </a:rPr>
              <a:t>项目实时支持</a:t>
            </a:r>
          </a:p>
        </p:txBody>
      </p:sp>
      <p:sp>
        <p:nvSpPr>
          <p:cNvPr id="30" name="椭圆 10">
            <a:extLst>
              <a:ext uri="{FF2B5EF4-FFF2-40B4-BE49-F238E27FC236}">
                <a16:creationId xmlns:a16="http://schemas.microsoft.com/office/drawing/2014/main" id="{448D5BF8-D048-FE82-ECBA-56481A8AAE9A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 flipV="1">
            <a:off x="5021097" y="3525021"/>
            <a:ext cx="234950" cy="234950"/>
          </a:xfrm>
          <a:prstGeom prst="ellipse">
            <a:avLst/>
          </a:prstGeom>
          <a:solidFill>
            <a:srgbClr val="DB81B1"/>
          </a:solidFill>
          <a:ln w="38100" cap="flat" cmpd="sng">
            <a:solidFill>
              <a:srgbClr val="A8C8B8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1" name="椭圆 17">
            <a:extLst>
              <a:ext uri="{FF2B5EF4-FFF2-40B4-BE49-F238E27FC236}">
                <a16:creationId xmlns:a16="http://schemas.microsoft.com/office/drawing/2014/main" id="{89D36457-FA4A-41D7-CDA6-5FA7574AB88D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4765509" y="2440758"/>
            <a:ext cx="762000" cy="762000"/>
          </a:xfrm>
          <a:prstGeom prst="ellipse">
            <a:avLst/>
          </a:prstGeom>
          <a:solidFill>
            <a:srgbClr val="A8C8B8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2" name="直接连接符 18">
            <a:extLst>
              <a:ext uri="{FF2B5EF4-FFF2-40B4-BE49-F238E27FC236}">
                <a16:creationId xmlns:a16="http://schemas.microsoft.com/office/drawing/2014/main" id="{F3FA3EB7-321D-7181-0953-EF8E59C9EF10}"/>
              </a:ext>
            </a:extLst>
          </p:cNvPr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>
            <a:off x="5141747" y="3201171"/>
            <a:ext cx="0" cy="333375"/>
          </a:xfrm>
          <a:prstGeom prst="line">
            <a:avLst/>
          </a:prstGeom>
          <a:noFill/>
          <a:ln w="6350" cap="flat" cmpd="sng">
            <a:solidFill>
              <a:srgbClr val="A8C8B8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0C5C4D5-B197-A8ED-27D3-4B1B9BD10B0E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4719404" y="2396240"/>
            <a:ext cx="854212" cy="8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defRPr sz="1400">
                <a:solidFill>
                  <a:srgbClr val="FFFFFF"/>
                </a:solidFill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1200" dirty="0">
                <a:latin typeface="+mn-ea"/>
                <a:ea typeface="+mn-ea"/>
              </a:rPr>
              <a:t>2024.06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8916A87-8364-E7DF-1865-0284397B5D22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5574907" y="2044769"/>
            <a:ext cx="2103002" cy="453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b" anchorCtr="0">
            <a:normAutofit/>
          </a:bodyPr>
          <a:lstStyle>
            <a:defPPr>
              <a:defRPr lang="zh-CN"/>
            </a:defPPr>
            <a:lvl1pPr>
              <a:defRPr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cvMES1.1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D4BC96A-B66C-3370-C10F-D62A5B17EBBF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573614" y="2514668"/>
            <a:ext cx="2330161" cy="98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7500"/>
          </a:bodyPr>
          <a:lstStyle>
            <a:defPPr>
              <a:defRPr lang="zh-CN"/>
            </a:defPPr>
            <a:lvl1pPr algn="ctr">
              <a:defRPr sz="1400"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pPr algn="l"/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全面支持</a:t>
            </a: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Auto3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需求</a:t>
            </a:r>
          </a:p>
          <a:p>
            <a:pPr algn="l"/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8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万片</a:t>
            </a: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12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寸半导体工厂</a:t>
            </a:r>
          </a:p>
        </p:txBody>
      </p:sp>
    </p:spTree>
    <p:custDataLst>
      <p:tags r:id="rId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69239" y="376555"/>
            <a:ext cx="7354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cvMES2.0 </a:t>
            </a:r>
            <a:r>
              <a:rPr lang="zh-CN" altLang="en-US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产品路线图</a:t>
            </a:r>
            <a:r>
              <a:rPr lang="en-US" altLang="zh-CN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-</a:t>
            </a:r>
            <a:r>
              <a:rPr lang="zh-CN" altLang="en-US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长期支持</a:t>
            </a:r>
          </a:p>
        </p:txBody>
      </p:sp>
      <p:sp>
        <p:nvSpPr>
          <p:cNvPr id="3" name="直接连接符 2">
            <a:extLst>
              <a:ext uri="{FF2B5EF4-FFF2-40B4-BE49-F238E27FC236}">
                <a16:creationId xmlns:a16="http://schemas.microsoft.com/office/drawing/2014/main" id="{045BCD8B-33A8-ED9D-3866-C8F70B5008E0}"/>
              </a:ext>
            </a:extLst>
          </p:cNvPr>
          <p:cNvSpPr>
            <a:spLocks noChangeShapeType="1"/>
          </p:cNvSpPr>
          <p:nvPr>
            <p:custDataLst>
              <p:tags r:id="rId2"/>
            </p:custDataLst>
          </p:nvPr>
        </p:nvSpPr>
        <p:spPr bwMode="auto">
          <a:xfrm>
            <a:off x="0" y="3642496"/>
            <a:ext cx="12192000" cy="0"/>
          </a:xfrm>
          <a:prstGeom prst="line">
            <a:avLst/>
          </a:prstGeom>
          <a:noFill/>
          <a:ln w="28575" cap="flat" cmpd="sng">
            <a:solidFill>
              <a:srgbClr val="A8C8B8"/>
            </a:solidFill>
            <a:prstDash val="sysDash"/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4" name="椭圆 6">
            <a:extLst>
              <a:ext uri="{FF2B5EF4-FFF2-40B4-BE49-F238E27FC236}">
                <a16:creationId xmlns:a16="http://schemas.microsoft.com/office/drawing/2014/main" id="{68779F44-3CB8-7C36-FA78-358A90805F8B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 flipV="1">
            <a:off x="967297" y="3525021"/>
            <a:ext cx="234950" cy="234950"/>
          </a:xfrm>
          <a:prstGeom prst="ellipse">
            <a:avLst/>
          </a:prstGeom>
          <a:solidFill>
            <a:srgbClr val="DB81B1"/>
          </a:solidFill>
          <a:ln w="38100" cap="flat" cmpd="sng">
            <a:solidFill>
              <a:srgbClr val="A8C8B8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5" name="椭圆 12">
            <a:extLst>
              <a:ext uri="{FF2B5EF4-FFF2-40B4-BE49-F238E27FC236}">
                <a16:creationId xmlns:a16="http://schemas.microsoft.com/office/drawing/2014/main" id="{EFC6FE72-E361-94C3-972C-BEA04FAD076A}"/>
              </a:ext>
            </a:extLst>
          </p:cNvPr>
          <p:cNvSpPr>
            <a:spLocks noChangeArrowheads="1"/>
          </p:cNvSpPr>
          <p:nvPr>
            <p:custDataLst>
              <p:tags r:id="rId4"/>
            </p:custDataLst>
          </p:nvPr>
        </p:nvSpPr>
        <p:spPr bwMode="auto">
          <a:xfrm>
            <a:off x="703772" y="1910533"/>
            <a:ext cx="762000" cy="762000"/>
          </a:xfrm>
          <a:prstGeom prst="ellipse">
            <a:avLst/>
          </a:prstGeom>
          <a:solidFill>
            <a:srgbClr val="A8C8B8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6" name="直接连接符 14">
            <a:extLst>
              <a:ext uri="{FF2B5EF4-FFF2-40B4-BE49-F238E27FC236}">
                <a16:creationId xmlns:a16="http://schemas.microsoft.com/office/drawing/2014/main" id="{4BC5A0D1-21E5-8849-02CC-6B2221F16B27}"/>
              </a:ext>
            </a:extLst>
          </p:cNvPr>
          <p:cNvSpPr>
            <a:spLocks noChangeShapeType="1"/>
          </p:cNvSpPr>
          <p:nvPr>
            <p:custDataLst>
              <p:tags r:id="rId5"/>
            </p:custDataLst>
          </p:nvPr>
        </p:nvSpPr>
        <p:spPr bwMode="auto">
          <a:xfrm>
            <a:off x="1084772" y="2672533"/>
            <a:ext cx="1588" cy="862013"/>
          </a:xfrm>
          <a:prstGeom prst="line">
            <a:avLst/>
          </a:prstGeom>
          <a:noFill/>
          <a:ln w="6350" cap="flat" cmpd="sng">
            <a:solidFill>
              <a:srgbClr val="A8C8B8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A0E94E8-B375-BC43-C0A4-A9B879A5B90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657667" y="1864427"/>
            <a:ext cx="854212" cy="8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defRPr sz="1400">
                <a:solidFill>
                  <a:srgbClr val="FFFFFF"/>
                </a:solidFill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1200" dirty="0">
                <a:latin typeface="+mn-ea"/>
                <a:ea typeface="+mn-ea"/>
              </a:rPr>
              <a:t>2023.03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9A65CCD4-6930-EACD-5873-29B7B40C42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552859" y="1823423"/>
            <a:ext cx="2103002" cy="453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b" anchorCtr="0">
            <a:normAutofit/>
          </a:bodyPr>
          <a:lstStyle>
            <a:defPPr>
              <a:defRPr lang="zh-CN"/>
            </a:defPPr>
            <a:lvl1pPr>
              <a:defRPr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预研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FACB850-E16E-CF01-0E15-55EFD9DBD008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552858" y="2293322"/>
            <a:ext cx="2104442" cy="98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Autofit/>
          </a:bodyPr>
          <a:lstStyle>
            <a:defPPr>
              <a:defRPr lang="zh-CN"/>
            </a:defPPr>
            <a:lvl1pPr algn="ctr">
              <a:defRPr sz="1400"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20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万片</a:t>
            </a: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12</a:t>
            </a: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寸全自动化工厂</a:t>
            </a: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RFP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亮点需求</a:t>
            </a:r>
            <a:endParaRPr lang="en-US" altLang="zh-CN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技术可行性</a:t>
            </a:r>
            <a:endParaRPr lang="en-US" altLang="zh-CN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立项</a:t>
            </a:r>
          </a:p>
        </p:txBody>
      </p:sp>
      <p:sp>
        <p:nvSpPr>
          <p:cNvPr id="11" name="椭圆 7">
            <a:extLst>
              <a:ext uri="{FF2B5EF4-FFF2-40B4-BE49-F238E27FC236}">
                <a16:creationId xmlns:a16="http://schemas.microsoft.com/office/drawing/2014/main" id="{11C7D68E-68BE-23BA-44F2-7BC6E50D5E7E}"/>
              </a:ext>
            </a:extLst>
          </p:cNvPr>
          <p:cNvSpPr>
            <a:spLocks noChangeArrowheads="1"/>
          </p:cNvSpPr>
          <p:nvPr>
            <p:custDataLst>
              <p:tags r:id="rId9"/>
            </p:custDataLst>
          </p:nvPr>
        </p:nvSpPr>
        <p:spPr bwMode="auto">
          <a:xfrm flipV="1">
            <a:off x="2576504" y="3525021"/>
            <a:ext cx="234950" cy="234950"/>
          </a:xfrm>
          <a:prstGeom prst="ellipse">
            <a:avLst/>
          </a:prstGeom>
          <a:solidFill>
            <a:srgbClr val="DB81B1"/>
          </a:solidFill>
          <a:ln w="38100" cap="flat" cmpd="sng">
            <a:solidFill>
              <a:srgbClr val="A8C8B8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2" name="椭圆 23">
            <a:extLst>
              <a:ext uri="{FF2B5EF4-FFF2-40B4-BE49-F238E27FC236}">
                <a16:creationId xmlns:a16="http://schemas.microsoft.com/office/drawing/2014/main" id="{DDA58017-9DD1-E18A-5806-B902D079B801}"/>
              </a:ext>
            </a:extLst>
          </p:cNvPr>
          <p:cNvSpPr>
            <a:spLocks noChangeArrowheads="1"/>
          </p:cNvSpPr>
          <p:nvPr>
            <p:custDataLst>
              <p:tags r:id="rId10"/>
            </p:custDataLst>
          </p:nvPr>
        </p:nvSpPr>
        <p:spPr bwMode="auto">
          <a:xfrm flipV="1">
            <a:off x="2312979" y="4628333"/>
            <a:ext cx="762000" cy="762000"/>
          </a:xfrm>
          <a:prstGeom prst="ellipse">
            <a:avLst/>
          </a:prstGeom>
          <a:solidFill>
            <a:srgbClr val="A8C8B8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3" name="直接连接符 24">
            <a:extLst>
              <a:ext uri="{FF2B5EF4-FFF2-40B4-BE49-F238E27FC236}">
                <a16:creationId xmlns:a16="http://schemas.microsoft.com/office/drawing/2014/main" id="{333DE241-579D-4E62-EB4B-9AD5B5D0D5C1}"/>
              </a:ext>
            </a:extLst>
          </p:cNvPr>
          <p:cNvSpPr>
            <a:spLocks noChangeShapeType="1"/>
          </p:cNvSpPr>
          <p:nvPr>
            <p:custDataLst>
              <p:tags r:id="rId11"/>
            </p:custDataLst>
          </p:nvPr>
        </p:nvSpPr>
        <p:spPr bwMode="auto">
          <a:xfrm flipV="1">
            <a:off x="2693979" y="3764733"/>
            <a:ext cx="0" cy="863600"/>
          </a:xfrm>
          <a:prstGeom prst="line">
            <a:avLst/>
          </a:prstGeom>
          <a:noFill/>
          <a:ln w="6350" cap="flat" cmpd="sng">
            <a:solidFill>
              <a:srgbClr val="A8C8B8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4093442-48A0-DE03-AA22-709AEA4CCAE7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2266874" y="4582227"/>
            <a:ext cx="854212" cy="8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defRPr sz="1400">
                <a:solidFill>
                  <a:srgbClr val="FFFFFF"/>
                </a:solidFill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1200" dirty="0">
                <a:latin typeface="+mn-ea"/>
                <a:ea typeface="+mn-ea"/>
              </a:rPr>
              <a:t>2023.4.20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E09A63A-BD13-EC7E-ACB8-0E0B778418F4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3133035" y="4411401"/>
            <a:ext cx="2103002" cy="453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b" anchorCtr="0">
            <a:normAutofit/>
          </a:bodyPr>
          <a:lstStyle>
            <a:defPPr>
              <a:defRPr lang="zh-CN"/>
            </a:defPPr>
            <a:lvl1pPr>
              <a:defRPr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底层框架</a:t>
            </a:r>
            <a:endParaRPr lang="en-US" altLang="zh-CN" b="1" dirty="0">
              <a:solidFill>
                <a:srgbClr val="00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70895309-7DB2-32EC-62F7-15B891DB395B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3133034" y="4881300"/>
            <a:ext cx="1898983" cy="98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7500"/>
          </a:bodyPr>
          <a:lstStyle>
            <a:defPPr>
              <a:defRPr lang="zh-CN"/>
            </a:defPPr>
            <a:lvl1pPr algn="ctr">
              <a:defRPr sz="1400"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自动化流程引擎、规则引擎</a:t>
            </a:r>
            <a:endParaRPr lang="en-US" altLang="zh-CN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自动化测试工具</a:t>
            </a:r>
            <a:endParaRPr lang="en-US" altLang="zh-CN" sz="1600" dirty="0">
              <a:solidFill>
                <a:srgbClr val="000000"/>
              </a:solidFill>
              <a:latin typeface="+mn-ea"/>
              <a:ea typeface="+mn-ea"/>
            </a:endParaRPr>
          </a:p>
          <a:p>
            <a:pPr algn="l"/>
            <a:endParaRPr lang="zh-CN" altLang="en-US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7" name="椭圆 9">
            <a:extLst>
              <a:ext uri="{FF2B5EF4-FFF2-40B4-BE49-F238E27FC236}">
                <a16:creationId xmlns:a16="http://schemas.microsoft.com/office/drawing/2014/main" id="{D29168F2-3D8D-A849-F7C6-737578F708A6}"/>
              </a:ext>
            </a:extLst>
          </p:cNvPr>
          <p:cNvSpPr>
            <a:spLocks noChangeArrowheads="1"/>
          </p:cNvSpPr>
          <p:nvPr>
            <p:custDataLst>
              <p:tags r:id="rId15"/>
            </p:custDataLst>
          </p:nvPr>
        </p:nvSpPr>
        <p:spPr bwMode="auto">
          <a:xfrm flipV="1">
            <a:off x="8199809" y="3525021"/>
            <a:ext cx="234950" cy="234950"/>
          </a:xfrm>
          <a:prstGeom prst="ellipse">
            <a:avLst/>
          </a:prstGeom>
          <a:solidFill>
            <a:srgbClr val="DB81B1"/>
          </a:solidFill>
          <a:ln w="38100" cap="flat" cmpd="sng">
            <a:solidFill>
              <a:srgbClr val="A8C8B8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8" name="椭圆 15">
            <a:extLst>
              <a:ext uri="{FF2B5EF4-FFF2-40B4-BE49-F238E27FC236}">
                <a16:creationId xmlns:a16="http://schemas.microsoft.com/office/drawing/2014/main" id="{134F319C-B241-C3F7-1C9D-A4CE025C1693}"/>
              </a:ext>
            </a:extLst>
          </p:cNvPr>
          <p:cNvSpPr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920409" y="1896246"/>
            <a:ext cx="762000" cy="762000"/>
          </a:xfrm>
          <a:prstGeom prst="ellipse">
            <a:avLst/>
          </a:prstGeom>
          <a:solidFill>
            <a:srgbClr val="A8C8B8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19" name="直接连接符 16">
            <a:extLst>
              <a:ext uri="{FF2B5EF4-FFF2-40B4-BE49-F238E27FC236}">
                <a16:creationId xmlns:a16="http://schemas.microsoft.com/office/drawing/2014/main" id="{1AD2BFB1-FD47-E58A-E657-B85F30930554}"/>
              </a:ext>
            </a:extLst>
          </p:cNvPr>
          <p:cNvSpPr>
            <a:spLocks noChangeShapeType="1"/>
          </p:cNvSpPr>
          <p:nvPr>
            <p:custDataLst>
              <p:tags r:id="rId17"/>
            </p:custDataLst>
          </p:nvPr>
        </p:nvSpPr>
        <p:spPr bwMode="auto">
          <a:xfrm>
            <a:off x="8301409" y="2658246"/>
            <a:ext cx="0" cy="863600"/>
          </a:xfrm>
          <a:prstGeom prst="line">
            <a:avLst/>
          </a:prstGeom>
          <a:noFill/>
          <a:ln w="6350" cap="flat" cmpd="sng">
            <a:solidFill>
              <a:srgbClr val="A8C8B8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F2D4F6F2-4D35-1F99-7699-62288B7070B5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7874303" y="1854109"/>
            <a:ext cx="854212" cy="8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defRPr sz="1400">
                <a:solidFill>
                  <a:srgbClr val="FFFFFF"/>
                </a:solidFill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1200" dirty="0">
                <a:latin typeface="+mn-ea"/>
                <a:ea typeface="+mn-ea"/>
              </a:rPr>
              <a:t>2024.12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D804A8E-CE00-0B77-ADED-5BD1B40B49AD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8736198" y="1823423"/>
            <a:ext cx="2103002" cy="453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b" anchorCtr="0">
            <a:normAutofit/>
          </a:bodyPr>
          <a:lstStyle>
            <a:defPPr>
              <a:defRPr lang="zh-CN"/>
            </a:defPPr>
            <a:lvl1pPr>
              <a:defRPr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cvMES2.0 RC</a:t>
            </a:r>
            <a:endParaRPr lang="zh-CN" altLang="en-US" b="1" dirty="0">
              <a:solidFill>
                <a:srgbClr val="00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E658B62-6CEB-E252-BC1F-27F588BB6BC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8736197" y="2293322"/>
            <a:ext cx="2104442" cy="98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7500"/>
          </a:bodyPr>
          <a:lstStyle>
            <a:defPPr>
              <a:defRPr lang="zh-CN"/>
            </a:defPPr>
            <a:lvl1pPr algn="ctr">
              <a:defRPr sz="1400"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+mn-ea"/>
                <a:ea typeface="+mn-ea"/>
              </a:rPr>
              <a:t>标准功能</a:t>
            </a:r>
            <a:endParaRPr lang="en-US" altLang="zh-CN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+mn-ea"/>
                <a:ea typeface="+mn-ea"/>
              </a:rPr>
              <a:t>第一单推广</a:t>
            </a:r>
          </a:p>
        </p:txBody>
      </p:sp>
      <p:sp>
        <p:nvSpPr>
          <p:cNvPr id="23" name="椭圆 8">
            <a:extLst>
              <a:ext uri="{FF2B5EF4-FFF2-40B4-BE49-F238E27FC236}">
                <a16:creationId xmlns:a16="http://schemas.microsoft.com/office/drawing/2014/main" id="{15B9294E-10BB-8D6C-D500-3328441FACF1}"/>
              </a:ext>
            </a:extLst>
          </p:cNvPr>
          <p:cNvSpPr>
            <a:spLocks noChangeArrowheads="1"/>
          </p:cNvSpPr>
          <p:nvPr>
            <p:custDataLst>
              <p:tags r:id="rId21"/>
            </p:custDataLst>
          </p:nvPr>
        </p:nvSpPr>
        <p:spPr bwMode="auto">
          <a:xfrm flipV="1">
            <a:off x="6082256" y="3525021"/>
            <a:ext cx="234950" cy="234950"/>
          </a:xfrm>
          <a:prstGeom prst="ellipse">
            <a:avLst/>
          </a:prstGeom>
          <a:solidFill>
            <a:srgbClr val="DB81B1"/>
          </a:solidFill>
          <a:ln w="38100" cap="flat" cmpd="sng">
            <a:solidFill>
              <a:srgbClr val="A8C8B8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4" name="椭圆 28">
            <a:extLst>
              <a:ext uri="{FF2B5EF4-FFF2-40B4-BE49-F238E27FC236}">
                <a16:creationId xmlns:a16="http://schemas.microsoft.com/office/drawing/2014/main" id="{92F415B2-1953-B10D-2C6B-CE722698C323}"/>
              </a:ext>
            </a:extLst>
          </p:cNvPr>
          <p:cNvSpPr>
            <a:spLocks noChangeArrowheads="1"/>
          </p:cNvSpPr>
          <p:nvPr>
            <p:custDataLst>
              <p:tags r:id="rId22"/>
            </p:custDataLst>
          </p:nvPr>
        </p:nvSpPr>
        <p:spPr bwMode="auto">
          <a:xfrm flipV="1">
            <a:off x="5818731" y="4102871"/>
            <a:ext cx="762000" cy="762000"/>
          </a:xfrm>
          <a:prstGeom prst="ellipse">
            <a:avLst/>
          </a:prstGeom>
          <a:solidFill>
            <a:srgbClr val="A8C8B8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F46F74D-DC36-F55A-B1EF-67CDE82824DB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5772624" y="4058353"/>
            <a:ext cx="854212" cy="8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defRPr sz="1400">
                <a:solidFill>
                  <a:srgbClr val="FFFFFF"/>
                </a:solidFill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1200" dirty="0">
                <a:latin typeface="+mn-ea"/>
                <a:ea typeface="+mn-ea"/>
              </a:rPr>
              <a:t>2024.06</a:t>
            </a:r>
          </a:p>
        </p:txBody>
      </p:sp>
      <p:sp>
        <p:nvSpPr>
          <p:cNvPr id="27" name="直接连接符 29">
            <a:extLst>
              <a:ext uri="{FF2B5EF4-FFF2-40B4-BE49-F238E27FC236}">
                <a16:creationId xmlns:a16="http://schemas.microsoft.com/office/drawing/2014/main" id="{905E79CE-275B-E4B2-B270-D4D95C8A0085}"/>
              </a:ext>
            </a:extLst>
          </p:cNvPr>
          <p:cNvSpPr>
            <a:spLocks noChangeShapeType="1"/>
          </p:cNvSpPr>
          <p:nvPr>
            <p:custDataLst>
              <p:tags r:id="rId24"/>
            </p:custDataLst>
          </p:nvPr>
        </p:nvSpPr>
        <p:spPr bwMode="auto">
          <a:xfrm flipV="1">
            <a:off x="6198142" y="3758384"/>
            <a:ext cx="1588" cy="344487"/>
          </a:xfrm>
          <a:prstGeom prst="line">
            <a:avLst/>
          </a:prstGeom>
          <a:noFill/>
          <a:ln w="6350" cap="flat" cmpd="sng">
            <a:solidFill>
              <a:srgbClr val="A8C8B8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085F3A8F-A580-116A-204C-9AC4161B06A9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6666309" y="4061357"/>
            <a:ext cx="2103002" cy="453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b" anchorCtr="0">
            <a:normAutofit/>
          </a:bodyPr>
          <a:lstStyle>
            <a:defPPr>
              <a:defRPr lang="zh-CN"/>
            </a:defPPr>
            <a:lvl1pPr>
              <a:defRPr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r>
              <a:rPr lang="zh-CN" altLang="en-US" b="1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基线版本</a:t>
            </a:r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EDBE1DB0-E16A-149D-1C35-8EC5C7F8253A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6666307" y="4531256"/>
            <a:ext cx="2677393" cy="98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0000"/>
          </a:bodyPr>
          <a:lstStyle>
            <a:defPPr>
              <a:defRPr lang="zh-CN"/>
            </a:defPPr>
            <a:lvl1pPr algn="ctr">
              <a:defRPr sz="1400"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+mn-ea"/>
                <a:ea typeface="+mn-ea"/>
              </a:rPr>
              <a:t>合并</a:t>
            </a:r>
            <a:r>
              <a:rPr lang="en-US" altLang="zh-CN" sz="1800" dirty="0">
                <a:solidFill>
                  <a:srgbClr val="000000"/>
                </a:solidFill>
                <a:latin typeface="+mn-ea"/>
                <a:ea typeface="+mn-ea"/>
              </a:rPr>
              <a:t>cvMES1.0</a:t>
            </a:r>
            <a:r>
              <a:rPr lang="zh-CN" altLang="en-US" sz="1800" dirty="0">
                <a:solidFill>
                  <a:srgbClr val="000000"/>
                </a:solidFill>
                <a:latin typeface="+mn-ea"/>
                <a:ea typeface="+mn-ea"/>
              </a:rPr>
              <a:t>基本功能</a:t>
            </a:r>
            <a:endParaRPr lang="en-US" altLang="zh-CN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0000"/>
                </a:solidFill>
                <a:latin typeface="+mn-ea"/>
                <a:ea typeface="+mn-ea"/>
              </a:rPr>
              <a:t>12</a:t>
            </a:r>
            <a:r>
              <a:rPr lang="zh-CN" altLang="en-US" sz="1800" dirty="0">
                <a:solidFill>
                  <a:srgbClr val="000000"/>
                </a:solidFill>
                <a:latin typeface="+mn-ea"/>
                <a:ea typeface="+mn-ea"/>
              </a:rPr>
              <a:t>寸市场解决方案开拓</a:t>
            </a:r>
            <a:endParaRPr lang="en-US" altLang="zh-CN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endParaRPr lang="en-US" altLang="zh-CN" sz="18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0" name="椭圆 10">
            <a:extLst>
              <a:ext uri="{FF2B5EF4-FFF2-40B4-BE49-F238E27FC236}">
                <a16:creationId xmlns:a16="http://schemas.microsoft.com/office/drawing/2014/main" id="{448D5BF8-D048-FE82-ECBA-56481A8AAE9A}"/>
              </a:ext>
            </a:extLst>
          </p:cNvPr>
          <p:cNvSpPr>
            <a:spLocks noChangeArrowheads="1"/>
          </p:cNvSpPr>
          <p:nvPr>
            <p:custDataLst>
              <p:tags r:id="rId27"/>
            </p:custDataLst>
          </p:nvPr>
        </p:nvSpPr>
        <p:spPr bwMode="auto">
          <a:xfrm flipV="1">
            <a:off x="4574409" y="3525021"/>
            <a:ext cx="234950" cy="234950"/>
          </a:xfrm>
          <a:prstGeom prst="ellipse">
            <a:avLst/>
          </a:prstGeom>
          <a:solidFill>
            <a:srgbClr val="DB81B1"/>
          </a:solidFill>
          <a:ln w="38100" cap="flat" cmpd="sng">
            <a:solidFill>
              <a:srgbClr val="A8C8B8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1" name="椭圆 17">
            <a:extLst>
              <a:ext uri="{FF2B5EF4-FFF2-40B4-BE49-F238E27FC236}">
                <a16:creationId xmlns:a16="http://schemas.microsoft.com/office/drawing/2014/main" id="{89D36457-FA4A-41D7-CDA6-5FA7574AB88D}"/>
              </a:ext>
            </a:extLst>
          </p:cNvPr>
          <p:cNvSpPr>
            <a:spLocks noChangeArrowheads="1"/>
          </p:cNvSpPr>
          <p:nvPr>
            <p:custDataLst>
              <p:tags r:id="rId28"/>
            </p:custDataLst>
          </p:nvPr>
        </p:nvSpPr>
        <p:spPr bwMode="auto">
          <a:xfrm>
            <a:off x="4318821" y="2440758"/>
            <a:ext cx="762000" cy="762000"/>
          </a:xfrm>
          <a:prstGeom prst="ellipse">
            <a:avLst/>
          </a:prstGeom>
          <a:solidFill>
            <a:srgbClr val="A8C8B8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2" name="直接连接符 18">
            <a:extLst>
              <a:ext uri="{FF2B5EF4-FFF2-40B4-BE49-F238E27FC236}">
                <a16:creationId xmlns:a16="http://schemas.microsoft.com/office/drawing/2014/main" id="{F3FA3EB7-321D-7181-0953-EF8E59C9EF10}"/>
              </a:ext>
            </a:extLst>
          </p:cNvPr>
          <p:cNvSpPr>
            <a:spLocks noChangeShapeType="1"/>
          </p:cNvSpPr>
          <p:nvPr>
            <p:custDataLst>
              <p:tags r:id="rId29"/>
            </p:custDataLst>
          </p:nvPr>
        </p:nvSpPr>
        <p:spPr bwMode="auto">
          <a:xfrm>
            <a:off x="4695059" y="3201171"/>
            <a:ext cx="0" cy="333375"/>
          </a:xfrm>
          <a:prstGeom prst="line">
            <a:avLst/>
          </a:prstGeom>
          <a:noFill/>
          <a:ln w="6350" cap="flat" cmpd="sng">
            <a:solidFill>
              <a:srgbClr val="A8C8B8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60C5C4D5-B197-A8ED-27D3-4B1B9BD10B0E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4272716" y="2396240"/>
            <a:ext cx="854212" cy="8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defRPr sz="1400">
                <a:solidFill>
                  <a:srgbClr val="FFFFFF"/>
                </a:solidFill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1200" dirty="0">
                <a:latin typeface="+mn-ea"/>
                <a:ea typeface="+mn-ea"/>
              </a:rPr>
              <a:t>2023.12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B8916A87-8364-E7DF-1865-0284397B5D22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5160210" y="2050158"/>
            <a:ext cx="2103002" cy="453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b" anchorCtr="0">
            <a:normAutofit/>
          </a:bodyPr>
          <a:lstStyle>
            <a:defPPr>
              <a:defRPr lang="zh-CN"/>
            </a:defPPr>
            <a:lvl1pPr>
              <a:defRPr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CIM Framework</a:t>
            </a: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1D4BC96A-B66C-3370-C10F-D62A5B17EBBF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5158917" y="2520057"/>
            <a:ext cx="2330161" cy="98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7500"/>
          </a:bodyPr>
          <a:lstStyle>
            <a:defPPr>
              <a:defRPr lang="zh-CN"/>
            </a:defPPr>
            <a:lvl1pPr algn="ctr">
              <a:defRPr sz="1400"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可视自动化</a:t>
            </a: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PRP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600" dirty="0">
                <a:solidFill>
                  <a:srgbClr val="000000"/>
                </a:solidFill>
                <a:latin typeface="+mn-ea"/>
                <a:ea typeface="+mn-ea"/>
              </a:rPr>
              <a:t>集团化</a:t>
            </a:r>
            <a:r>
              <a:rPr lang="en-US" altLang="zh-CN" sz="1600" dirty="0">
                <a:solidFill>
                  <a:srgbClr val="000000"/>
                </a:solidFill>
                <a:latin typeface="+mn-ea"/>
                <a:ea typeface="+mn-ea"/>
              </a:rPr>
              <a:t>Modeler</a:t>
            </a:r>
            <a:endParaRPr lang="zh-CN" altLang="en-US" sz="1600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" name="椭圆 8">
            <a:extLst>
              <a:ext uri="{FF2B5EF4-FFF2-40B4-BE49-F238E27FC236}">
                <a16:creationId xmlns:a16="http://schemas.microsoft.com/office/drawing/2014/main" id="{3D5978DE-CA3E-3526-223B-998CA9BA36E2}"/>
              </a:ext>
            </a:extLst>
          </p:cNvPr>
          <p:cNvSpPr>
            <a:spLocks noChangeArrowheads="1"/>
          </p:cNvSpPr>
          <p:nvPr>
            <p:custDataLst>
              <p:tags r:id="rId33"/>
            </p:custDataLst>
          </p:nvPr>
        </p:nvSpPr>
        <p:spPr bwMode="auto">
          <a:xfrm flipV="1">
            <a:off x="9603222" y="3559422"/>
            <a:ext cx="234950" cy="234950"/>
          </a:xfrm>
          <a:prstGeom prst="ellipse">
            <a:avLst/>
          </a:prstGeom>
          <a:solidFill>
            <a:srgbClr val="DB81B1"/>
          </a:solidFill>
          <a:ln w="38100" cap="flat" cmpd="sng">
            <a:solidFill>
              <a:srgbClr val="A8C8B8"/>
            </a:solidFill>
            <a:beve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7" name="椭圆 28">
            <a:extLst>
              <a:ext uri="{FF2B5EF4-FFF2-40B4-BE49-F238E27FC236}">
                <a16:creationId xmlns:a16="http://schemas.microsoft.com/office/drawing/2014/main" id="{948AE636-419B-B9B8-DB47-BA5539EDFEB3}"/>
              </a:ext>
            </a:extLst>
          </p:cNvPr>
          <p:cNvSpPr>
            <a:spLocks noChangeArrowheads="1"/>
          </p:cNvSpPr>
          <p:nvPr>
            <p:custDataLst>
              <p:tags r:id="rId34"/>
            </p:custDataLst>
          </p:nvPr>
        </p:nvSpPr>
        <p:spPr bwMode="auto">
          <a:xfrm flipV="1">
            <a:off x="9339697" y="4137272"/>
            <a:ext cx="762000" cy="762000"/>
          </a:xfrm>
          <a:prstGeom prst="ellipse">
            <a:avLst/>
          </a:prstGeom>
          <a:solidFill>
            <a:srgbClr val="A8C8B8"/>
          </a:solidFill>
          <a:ln>
            <a:noFill/>
          </a:ln>
        </p:spPr>
        <p:txBody>
          <a:bodyPr anchor="ctr"/>
          <a:lstStyle/>
          <a:p>
            <a:pPr algn="ctr"/>
            <a:endParaRPr lang="zh-CN" altLang="zh-CN">
              <a:solidFill>
                <a:srgbClr val="FFFFFF"/>
              </a:solidFill>
              <a:latin typeface="+mn-ea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39E264E2-244D-CF74-D64F-9B3EFC89D291}"/>
              </a:ext>
            </a:extLst>
          </p:cNvPr>
          <p:cNvSpPr txBox="1"/>
          <p:nvPr>
            <p:custDataLst>
              <p:tags r:id="rId35"/>
            </p:custDataLst>
          </p:nvPr>
        </p:nvSpPr>
        <p:spPr>
          <a:xfrm>
            <a:off x="9293590" y="4092754"/>
            <a:ext cx="854212" cy="8542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ctr" anchorCtr="0">
            <a:normAutofit/>
          </a:bodyPr>
          <a:lstStyle>
            <a:defPPr>
              <a:defRPr lang="zh-CN"/>
            </a:defPPr>
            <a:lvl1pPr>
              <a:defRPr sz="1400">
                <a:solidFill>
                  <a:srgbClr val="FFFFFF"/>
                </a:solidFill>
                <a:ea typeface="微软雅黑" panose="020B0503020204020204" pitchFamily="34" charset="-122"/>
              </a:defRPr>
            </a:lvl1pPr>
          </a:lstStyle>
          <a:p>
            <a:pPr algn="ctr"/>
            <a:r>
              <a:rPr lang="en-US" altLang="zh-CN" sz="1200" dirty="0">
                <a:latin typeface="+mn-ea"/>
                <a:ea typeface="+mn-ea"/>
              </a:rPr>
              <a:t>2025.06</a:t>
            </a:r>
          </a:p>
        </p:txBody>
      </p:sp>
      <p:sp>
        <p:nvSpPr>
          <p:cNvPr id="37" name="直接连接符 29">
            <a:extLst>
              <a:ext uri="{FF2B5EF4-FFF2-40B4-BE49-F238E27FC236}">
                <a16:creationId xmlns:a16="http://schemas.microsoft.com/office/drawing/2014/main" id="{753B31E3-66E6-1CD9-89F6-6ABF45381C78}"/>
              </a:ext>
            </a:extLst>
          </p:cNvPr>
          <p:cNvSpPr>
            <a:spLocks noChangeShapeType="1"/>
          </p:cNvSpPr>
          <p:nvPr>
            <p:custDataLst>
              <p:tags r:id="rId36"/>
            </p:custDataLst>
          </p:nvPr>
        </p:nvSpPr>
        <p:spPr bwMode="auto">
          <a:xfrm flipV="1">
            <a:off x="9719108" y="3792785"/>
            <a:ext cx="1588" cy="344487"/>
          </a:xfrm>
          <a:prstGeom prst="line">
            <a:avLst/>
          </a:prstGeom>
          <a:noFill/>
          <a:ln w="6350" cap="flat" cmpd="sng">
            <a:solidFill>
              <a:srgbClr val="A8C8B8"/>
            </a:solidFill>
            <a:beve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>
              <a:latin typeface="+mn-ea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4E771DB2-1C5A-C140-60C4-3F43F6BA1F67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10187275" y="4095758"/>
            <a:ext cx="2103002" cy="4534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0000" tIns="46800" rIns="90000" bIns="46800" anchor="b" anchorCtr="0">
            <a:normAutofit/>
          </a:bodyPr>
          <a:lstStyle>
            <a:defPPr>
              <a:defRPr lang="zh-CN"/>
            </a:defPPr>
            <a:lvl1pPr>
              <a:defRPr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r>
              <a:rPr lang="en-US" altLang="zh-CN" b="1" dirty="0" err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cvMES</a:t>
            </a:r>
            <a:r>
              <a:rPr lang="en-US" altLang="zh-CN" b="1" dirty="0">
                <a:solidFill>
                  <a:srgbClr val="000000"/>
                </a:solidFill>
                <a:latin typeface="+mn-ea"/>
                <a:ea typeface="+mn-ea"/>
                <a:cs typeface="+mn-ea"/>
              </a:rPr>
              <a:t> 2.0</a:t>
            </a:r>
            <a:endParaRPr lang="zh-CN" altLang="en-US" b="1" dirty="0">
              <a:solidFill>
                <a:srgbClr val="00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ED547E5-14F2-44E7-882F-344EDD0AF8BA}"/>
              </a:ext>
            </a:extLst>
          </p:cNvPr>
          <p:cNvSpPr txBox="1"/>
          <p:nvPr>
            <p:custDataLst>
              <p:tags r:id="rId38"/>
            </p:custDataLst>
          </p:nvPr>
        </p:nvSpPr>
        <p:spPr>
          <a:xfrm>
            <a:off x="10187273" y="4565657"/>
            <a:ext cx="2677393" cy="9831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normAutofit fontScale="97500"/>
          </a:bodyPr>
          <a:lstStyle>
            <a:defPPr>
              <a:defRPr lang="zh-CN"/>
            </a:defPPr>
            <a:lvl1pPr algn="ctr">
              <a:defRPr sz="1400">
                <a:solidFill>
                  <a:srgbClr val="FFFFFF"/>
                </a:solidFill>
                <a:latin typeface="Calibri" panose="020F0502020204030204" charset="0"/>
                <a:ea typeface="微软雅黑" panose="020B0503020204020204" pitchFamily="34" charset="-122"/>
              </a:defRPr>
            </a:lvl1pPr>
          </a:lstStyle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zh-CN" altLang="en-US" sz="1800" dirty="0">
                <a:solidFill>
                  <a:srgbClr val="000000"/>
                </a:solidFill>
                <a:latin typeface="+mn-ea"/>
                <a:ea typeface="+mn-ea"/>
              </a:rPr>
              <a:t>大规模市场推广</a:t>
            </a:r>
            <a:endParaRPr lang="en-US" altLang="zh-CN" sz="1800" dirty="0">
              <a:solidFill>
                <a:srgbClr val="000000"/>
              </a:solidFill>
              <a:latin typeface="+mn-ea"/>
              <a:ea typeface="+mn-ea"/>
            </a:endParaRP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altLang="zh-CN" sz="1800" dirty="0">
                <a:solidFill>
                  <a:srgbClr val="000000"/>
                </a:solidFill>
                <a:latin typeface="+mn-ea"/>
                <a:ea typeface="+mn-ea"/>
              </a:rPr>
              <a:t>cvMES1.0</a:t>
            </a:r>
            <a:r>
              <a:rPr lang="zh-CN" altLang="en-US" sz="1800" dirty="0">
                <a:solidFill>
                  <a:srgbClr val="000000"/>
                </a:solidFill>
                <a:latin typeface="+mn-ea"/>
                <a:ea typeface="+mn-ea"/>
              </a:rPr>
              <a:t>停止更新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39839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69239" y="376555"/>
            <a:ext cx="7354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对标 </a:t>
            </a:r>
            <a:r>
              <a:rPr lang="en-US" altLang="zh-CN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–</a:t>
            </a:r>
            <a:r>
              <a:rPr lang="zh-CN" altLang="en-US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半导体</a:t>
            </a:r>
            <a:r>
              <a:rPr lang="en-US" altLang="zh-CN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MES</a:t>
            </a:r>
            <a:endParaRPr lang="zh-CN" altLang="en-US" sz="2800" b="1" dirty="0">
              <a:solidFill>
                <a:srgbClr val="004EA2"/>
              </a:solidFill>
              <a:latin typeface="Roboto" panose="02000000000000000000" pitchFamily="2" charset="0"/>
              <a:ea typeface="Noto Sans S Chinese Bold" panose="020B0800000000000000" pitchFamily="34" charset="-122"/>
            </a:endParaRPr>
          </a:p>
        </p:txBody>
      </p:sp>
      <p:graphicFrame>
        <p:nvGraphicFramePr>
          <p:cNvPr id="3" name="表格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1418199"/>
              </p:ext>
            </p:extLst>
          </p:nvPr>
        </p:nvGraphicFramePr>
        <p:xfrm>
          <a:off x="252248" y="963985"/>
          <a:ext cx="10828984" cy="554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292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72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85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5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800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8778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489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667246">
                  <a:extLst>
                    <a:ext uri="{9D8B030D-6E8A-4147-A177-3AD203B41FA5}">
                      <a16:colId xmlns:a16="http://schemas.microsoft.com/office/drawing/2014/main" val="23992294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指标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AMAT</a:t>
                      </a:r>
                    </a:p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300Works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IBM</a:t>
                      </a:r>
                    </a:p>
                    <a:p>
                      <a:pPr algn="ctr"/>
                      <a:r>
                        <a:rPr lang="en-US" altLang="zh-CN" sz="1600" dirty="0" err="1">
                          <a:latin typeface="+mn-ea"/>
                          <a:ea typeface="+mn-ea"/>
                        </a:rPr>
                        <a:t>SiView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海力士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Inhouse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三星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Inhouse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赛美特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zh-CN" sz="1600" dirty="0" err="1">
                          <a:latin typeface="+mn-ea"/>
                          <a:ea typeface="+mn-ea"/>
                        </a:rPr>
                        <a:t>Sien</a:t>
                      </a:r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 MES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上扬</a:t>
                      </a:r>
                      <a:endParaRPr lang="en-US" altLang="zh-CN" sz="1600" dirty="0">
                        <a:latin typeface="+mn-ea"/>
                        <a:ea typeface="+mn-ea"/>
                      </a:endParaRPr>
                    </a:p>
                    <a:p>
                      <a:pPr algn="ctr"/>
                      <a:r>
                        <a:rPr lang="en-US" altLang="zh-CN" sz="1600" dirty="0">
                          <a:latin typeface="+mn-ea"/>
                          <a:ea typeface="+mn-ea"/>
                        </a:rPr>
                        <a:t>myCIM4.0</a:t>
                      </a:r>
                      <a:endParaRPr lang="zh-CN" altLang="en-US" sz="16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>
                          <a:latin typeface="+mn-ea"/>
                          <a:ea typeface="+mn-ea"/>
                        </a:rPr>
                        <a:t>哥瑞利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可用性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性能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可视化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i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i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部署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i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b="0" i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开发便利性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开发环境</a:t>
                      </a:r>
                      <a:endParaRPr lang="en-US" altLang="zh-CN" sz="1400" dirty="0"/>
                    </a:p>
                    <a:p>
                      <a:r>
                        <a:rPr lang="zh-CN" altLang="en-US" sz="1400" dirty="0"/>
                        <a:t>（前端</a:t>
                      </a:r>
                      <a:r>
                        <a:rPr lang="en-US" altLang="zh-CN" sz="1400" dirty="0"/>
                        <a:t>/</a:t>
                      </a:r>
                      <a:r>
                        <a:rPr lang="zh-CN" altLang="en-US" sz="1400" dirty="0"/>
                        <a:t>后端）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32815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技术框架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32815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309938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3281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Semi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兼容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597704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32815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Auto1/2/3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符合度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76679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32815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PRP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592745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32815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操作便利性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759102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algn="l" defTabSz="932815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……..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5531342"/>
                  </a:ext>
                </a:extLst>
              </a:tr>
            </a:tbl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8596836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69239" y="376555"/>
            <a:ext cx="81175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cvMES2.0</a:t>
            </a:r>
            <a:r>
              <a:rPr lang="zh-CN" altLang="en-US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产品亮点需求 </a:t>
            </a:r>
            <a:r>
              <a:rPr lang="en-US" altLang="zh-CN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– </a:t>
            </a:r>
            <a:r>
              <a:rPr lang="zh-CN" altLang="en-US" sz="2800" b="1" dirty="0">
                <a:solidFill>
                  <a:srgbClr val="FF0000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产品独特</a:t>
            </a:r>
            <a:r>
              <a:rPr lang="zh-CN" altLang="en-US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、技术独立</a:t>
            </a:r>
          </a:p>
        </p:txBody>
      </p:sp>
      <p:graphicFrame>
        <p:nvGraphicFramePr>
          <p:cNvPr id="3" name="表格 3">
            <a:extLst>
              <a:ext uri="{FF2B5EF4-FFF2-40B4-BE49-F238E27FC236}">
                <a16:creationId xmlns:a16="http://schemas.microsoft.com/office/drawing/2014/main" id="{CB748D92-8978-A29B-8B1D-A7E787F110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335709"/>
              </p:ext>
            </p:extLst>
          </p:nvPr>
        </p:nvGraphicFramePr>
        <p:xfrm>
          <a:off x="269239" y="2389353"/>
          <a:ext cx="11780871" cy="390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8268">
                  <a:extLst>
                    <a:ext uri="{9D8B030D-6E8A-4147-A177-3AD203B41FA5}">
                      <a16:colId xmlns:a16="http://schemas.microsoft.com/office/drawing/2014/main" val="1206269535"/>
                    </a:ext>
                  </a:extLst>
                </a:gridCol>
                <a:gridCol w="7366865">
                  <a:extLst>
                    <a:ext uri="{9D8B030D-6E8A-4147-A177-3AD203B41FA5}">
                      <a16:colId xmlns:a16="http://schemas.microsoft.com/office/drawing/2014/main" val="1838333630"/>
                    </a:ext>
                  </a:extLst>
                </a:gridCol>
                <a:gridCol w="1765738">
                  <a:extLst>
                    <a:ext uri="{9D8B030D-6E8A-4147-A177-3AD203B41FA5}">
                      <a16:colId xmlns:a16="http://schemas.microsoft.com/office/drawing/2014/main" val="3495239877"/>
                    </a:ext>
                  </a:extLst>
                </a:gridCol>
              </a:tblGrid>
              <a:tr h="180345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亮点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说明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600" dirty="0"/>
                        <a:t>需求分类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45028"/>
                  </a:ext>
                </a:extLst>
              </a:tr>
              <a:tr h="163950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1</a:t>
                      </a:r>
                      <a:r>
                        <a:rPr lang="zh-CN" altLang="en-US" sz="1400" b="1" dirty="0"/>
                        <a:t>、可视化自动化业务流程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业务规则可配置；可配置、可视化和自动化工艺流程建模和监控</a:t>
                      </a:r>
                      <a:r>
                        <a:rPr lang="en-US" altLang="zh-CN" sz="1400" dirty="0"/>
                        <a:t>(PRP/OCAP)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基础架构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671778"/>
                  </a:ext>
                </a:extLst>
              </a:tr>
              <a:tr h="163950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2</a:t>
                      </a:r>
                      <a:r>
                        <a:rPr lang="zh-CN" altLang="en-US" sz="1400" b="1" dirty="0"/>
                        <a:t>、毫秒级数据集成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基于业务消息的毫秒级</a:t>
                      </a:r>
                      <a:r>
                        <a:rPr lang="en-US" altLang="zh-CN" sz="1400" dirty="0"/>
                        <a:t>RTD/RTS/</a:t>
                      </a:r>
                      <a:r>
                        <a:rPr lang="zh-CN" altLang="en-US" sz="1400" dirty="0"/>
                        <a:t>大数据实时数据格式转换和同步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核心功能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972838"/>
                  </a:ext>
                </a:extLst>
              </a:tr>
              <a:tr h="163950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3</a:t>
                      </a:r>
                      <a:r>
                        <a:rPr lang="zh-CN" altLang="en-US" sz="1400" b="1" dirty="0"/>
                        <a:t>、支持</a:t>
                      </a:r>
                      <a:r>
                        <a:rPr lang="en-US" altLang="zh-CN" sz="1400" b="1" dirty="0"/>
                        <a:t>Kafka</a:t>
                      </a:r>
                      <a:r>
                        <a:rPr lang="zh-CN" altLang="en-US" sz="1400" b="1" dirty="0"/>
                        <a:t>消息中间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Tib </a:t>
                      </a:r>
                      <a:r>
                        <a:rPr lang="en-US" altLang="zh-CN" sz="1400" dirty="0" err="1"/>
                        <a:t>rv</a:t>
                      </a:r>
                      <a:r>
                        <a:rPr lang="en-US" altLang="zh-CN" sz="1400" dirty="0"/>
                        <a:t>/Rabbit MQ/Kafka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Unicode MS"/>
                          <a:cs typeface="+mn-cs"/>
                        </a:rPr>
                        <a:t>核心功能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Unicode MS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3609436"/>
                  </a:ext>
                </a:extLst>
              </a:tr>
              <a:tr h="163950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4</a:t>
                      </a:r>
                      <a:r>
                        <a:rPr lang="zh-CN" altLang="en-US" sz="1400" b="1" dirty="0"/>
                        <a:t>、集团化跨工厂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支持集团级生产基准数据建模</a:t>
                      </a:r>
                      <a:r>
                        <a:rPr lang="en-US" altLang="zh-CN" sz="1400" dirty="0"/>
                        <a:t>+</a:t>
                      </a:r>
                      <a:r>
                        <a:rPr lang="zh-CN" altLang="en-US" sz="1400" dirty="0"/>
                        <a:t>工厂级基准数据建模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Unicode MS"/>
                          <a:cs typeface="+mn-cs"/>
                        </a:rPr>
                        <a:t>核心功能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Unicode MS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10408500"/>
                  </a:ext>
                </a:extLst>
              </a:tr>
              <a:tr h="163950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5</a:t>
                      </a:r>
                      <a:r>
                        <a:rPr lang="zh-CN" altLang="en-US" sz="1400" b="1" dirty="0"/>
                        <a:t>、自动化仿真工具套件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MES PRP/EAP/EQP</a:t>
                      </a:r>
                      <a:r>
                        <a:rPr lang="zh-CN" altLang="en-US" sz="1400" dirty="0"/>
                        <a:t>自动化流程仿真；压力测试工具、单元测试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Unicode MS"/>
                          <a:cs typeface="+mn-cs"/>
                        </a:rPr>
                        <a:t>配套工具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190962"/>
                  </a:ext>
                </a:extLst>
              </a:tr>
              <a:tr h="163950">
                <a:tc>
                  <a:txBody>
                    <a:bodyPr/>
                    <a:lstStyle/>
                    <a:p>
                      <a:r>
                        <a:rPr lang="en-US" altLang="zh-CN" sz="1400" b="1" dirty="0"/>
                        <a:t>6</a:t>
                      </a:r>
                      <a:r>
                        <a:rPr lang="zh-CN" altLang="en-US" sz="1400" b="1" dirty="0"/>
                        <a:t>、人员管理模块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Factory Labor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Unicode MS"/>
                          <a:cs typeface="+mn-cs"/>
                        </a:rPr>
                        <a:t>核心功能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0868998"/>
                  </a:ext>
                </a:extLst>
              </a:tr>
              <a:tr h="16395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7</a:t>
                      </a:r>
                      <a:r>
                        <a:rPr lang="zh-CN" altLang="en-US" sz="1400" dirty="0"/>
                        <a:t>、成本管理模块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设备工时、关键物料。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扩展功能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3874002"/>
                  </a:ext>
                </a:extLst>
              </a:tr>
              <a:tr h="278716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8</a:t>
                      </a:r>
                      <a:r>
                        <a:rPr lang="zh-CN" altLang="en-US" sz="1400" dirty="0"/>
                        <a:t>、支持</a:t>
                      </a:r>
                      <a:r>
                        <a:rPr lang="en-US" altLang="zh-CN" sz="1400" dirty="0"/>
                        <a:t>PMS</a:t>
                      </a:r>
                      <a:endParaRPr lang="zh-CN" alt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</a:t>
                      </a:r>
                      <a:r>
                        <a:rPr lang="zh-CN" altLang="en-US" sz="1400" dirty="0"/>
                        <a:t>、第三方</a:t>
                      </a:r>
                      <a:r>
                        <a:rPr lang="en-US" altLang="zh-CN" sz="1400" dirty="0"/>
                        <a:t>PMS</a:t>
                      </a:r>
                      <a:r>
                        <a:rPr lang="zh-CN" altLang="en-US" sz="1400" dirty="0"/>
                        <a:t>接口：工厂和设备建模数据接口；</a:t>
                      </a:r>
                      <a:r>
                        <a:rPr lang="en-US" altLang="zh-CN" sz="1400" dirty="0"/>
                        <a:t>PMS</a:t>
                      </a:r>
                      <a:r>
                        <a:rPr lang="zh-CN" altLang="en-US" sz="1400" dirty="0"/>
                        <a:t>状态变更接口</a:t>
                      </a:r>
                      <a:endParaRPr lang="en-US" altLang="zh-CN" sz="1400" dirty="0"/>
                    </a:p>
                    <a:p>
                      <a:r>
                        <a:rPr lang="en-US" altLang="zh-CN" sz="1400" dirty="0"/>
                        <a:t>2</a:t>
                      </a:r>
                      <a:r>
                        <a:rPr lang="zh-CN" altLang="en-US" sz="1400" dirty="0"/>
                        <a:t>、珂阳</a:t>
                      </a:r>
                      <a:r>
                        <a:rPr lang="en-US" altLang="zh-CN" sz="1400" dirty="0"/>
                        <a:t>PMS</a:t>
                      </a:r>
                      <a:r>
                        <a:rPr lang="zh-CN" altLang="en-US" sz="1400" dirty="0"/>
                        <a:t>：</a:t>
                      </a:r>
                      <a:r>
                        <a:rPr lang="en-US" altLang="zh-CN" sz="1400" dirty="0"/>
                        <a:t>E10</a:t>
                      </a:r>
                      <a:r>
                        <a:rPr lang="zh-CN" altLang="en-US" sz="1400" dirty="0"/>
                        <a:t>、</a:t>
                      </a:r>
                      <a:r>
                        <a:rPr lang="en-US" altLang="zh-CN" sz="1400" dirty="0"/>
                        <a:t>E58</a:t>
                      </a:r>
                      <a:r>
                        <a:rPr lang="zh-CN" altLang="en-US" sz="1400" dirty="0"/>
                        <a:t>设备状态；</a:t>
                      </a:r>
                      <a:r>
                        <a:rPr lang="en-US" altLang="zh-CN" sz="1400" dirty="0"/>
                        <a:t>Modeler</a:t>
                      </a:r>
                      <a:r>
                        <a:rPr lang="zh-CN" altLang="en-US" sz="1400" dirty="0"/>
                        <a:t>工厂设备数据共享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Unicode MS"/>
                          <a:cs typeface="+mn-cs"/>
                        </a:rPr>
                        <a:t>扩展功能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Unicode MS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2346823"/>
                  </a:ext>
                </a:extLst>
              </a:tr>
              <a:tr h="16395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9</a:t>
                      </a:r>
                      <a:r>
                        <a:rPr lang="zh-CN" altLang="en-US" sz="1400" dirty="0"/>
                        <a:t>、支持</a:t>
                      </a:r>
                      <a:r>
                        <a:rPr lang="en-US" altLang="zh-CN" sz="1400" dirty="0"/>
                        <a:t>Fabless Design House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设计和工艺文件、工艺和量测数据接口；</a:t>
                      </a:r>
                      <a:r>
                        <a:rPr lang="zh-CN" altLang="en-US" sz="1400" b="1" dirty="0"/>
                        <a:t>支持</a:t>
                      </a:r>
                      <a:r>
                        <a:rPr lang="en-US" altLang="zh-CN" sz="1400" b="1" dirty="0"/>
                        <a:t>IBM EMES</a:t>
                      </a:r>
                      <a:endParaRPr lang="zh-CN" alt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Unicode MS"/>
                          <a:cs typeface="+mn-cs"/>
                        </a:rPr>
                        <a:t>扩展功能</a:t>
                      </a:r>
                      <a:endParaRPr kumimoji="0" lang="zh-CN" altLang="en-US" sz="1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 Unicode MS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9448523"/>
                  </a:ext>
                </a:extLst>
              </a:tr>
              <a:tr h="16395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10</a:t>
                      </a:r>
                      <a:r>
                        <a:rPr lang="zh-CN" altLang="en-US" sz="1400" dirty="0"/>
                        <a:t>、支持</a:t>
                      </a:r>
                      <a:r>
                        <a:rPr lang="en-US" altLang="zh-CN" sz="1400" dirty="0"/>
                        <a:t>MDP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Mask Data Preparation</a:t>
                      </a:r>
                      <a:r>
                        <a:rPr lang="zh-CN" altLang="en-US" sz="1400" dirty="0"/>
                        <a:t>，光罩数据准备系统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zh-CN" altLang="en-US" sz="14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 Unicode MS"/>
                          <a:cs typeface="+mn-cs"/>
                        </a:rPr>
                        <a:t>扩展功能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0569359"/>
                  </a:ext>
                </a:extLst>
              </a:tr>
              <a:tr h="163950">
                <a:tc>
                  <a:txBody>
                    <a:bodyPr/>
                    <a:lstStyle/>
                    <a:p>
                      <a:r>
                        <a:rPr lang="en-US" altLang="zh-CN" sz="1400" dirty="0"/>
                        <a:t>11</a:t>
                      </a:r>
                      <a:r>
                        <a:rPr lang="zh-CN" altLang="en-US" sz="1400" dirty="0"/>
                        <a:t>、低代码</a:t>
                      </a:r>
                      <a:endParaRPr lang="en-US" altLang="zh-CN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400" dirty="0"/>
                        <a:t>一个</a:t>
                      </a:r>
                      <a:r>
                        <a:rPr lang="en-US" altLang="zh-CN" sz="1400" dirty="0"/>
                        <a:t>API</a:t>
                      </a:r>
                      <a:r>
                        <a:rPr lang="zh-CN" altLang="en-US" sz="1400" dirty="0"/>
                        <a:t>一个服务？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400" dirty="0"/>
                        <a:t>架构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6849830"/>
                  </a:ext>
                </a:extLst>
              </a:tr>
            </a:tbl>
          </a:graphicData>
        </a:graphic>
      </p:graphicFrame>
      <p:sp>
        <p:nvSpPr>
          <p:cNvPr id="5" name="文本框 4">
            <a:extLst>
              <a:ext uri="{FF2B5EF4-FFF2-40B4-BE49-F238E27FC236}">
                <a16:creationId xmlns:a16="http://schemas.microsoft.com/office/drawing/2014/main" id="{E1041979-F2CA-C222-DCC8-113A6DBD15C1}"/>
              </a:ext>
            </a:extLst>
          </p:cNvPr>
          <p:cNvSpPr txBox="1"/>
          <p:nvPr/>
        </p:nvSpPr>
        <p:spPr>
          <a:xfrm>
            <a:off x="269238" y="972208"/>
            <a:ext cx="52276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>
                <a:latin typeface="+mn-ea"/>
              </a:rPr>
              <a:t>设计思想：</a:t>
            </a:r>
            <a:r>
              <a:rPr lang="en-US" altLang="zh-CN" sz="1400" dirty="0">
                <a:latin typeface="+mn-ea"/>
              </a:rPr>
              <a:t>DDD</a:t>
            </a:r>
            <a:r>
              <a:rPr lang="zh-CN" altLang="en-US" sz="1400" dirty="0">
                <a:latin typeface="+mn-ea"/>
              </a:rPr>
              <a:t>领域驱动设计</a:t>
            </a:r>
            <a:endParaRPr lang="en-US" altLang="zh-CN" sz="1400" dirty="0">
              <a:latin typeface="+mn-ea"/>
            </a:endParaRPr>
          </a:p>
          <a:p>
            <a:r>
              <a:rPr lang="zh-CN" altLang="en-US" sz="1400" dirty="0">
                <a:latin typeface="+mn-ea"/>
              </a:rPr>
              <a:t>架构设计模式：</a:t>
            </a:r>
            <a:r>
              <a:rPr lang="en-US" altLang="zh-CN" sz="1400" dirty="0">
                <a:latin typeface="+mn-ea"/>
              </a:rPr>
              <a:t>N Layer</a:t>
            </a:r>
            <a:r>
              <a:rPr lang="zh-CN" altLang="en-US" sz="1400" dirty="0">
                <a:latin typeface="+mn-ea"/>
              </a:rPr>
              <a:t>分层架构、</a:t>
            </a:r>
            <a:r>
              <a:rPr lang="en-US" altLang="zh-CN" sz="1400" dirty="0">
                <a:latin typeface="+mn-ea"/>
              </a:rPr>
              <a:t>CQRS</a:t>
            </a:r>
            <a:r>
              <a:rPr lang="zh-CN" altLang="en-US" sz="1400" dirty="0">
                <a:latin typeface="+mn-ea"/>
              </a:rPr>
              <a:t>、</a:t>
            </a:r>
            <a:r>
              <a:rPr lang="en-US" altLang="zh-CN" sz="1400" dirty="0">
                <a:latin typeface="+mn-ea"/>
              </a:rPr>
              <a:t>Event Source</a:t>
            </a:r>
          </a:p>
          <a:p>
            <a:r>
              <a:rPr lang="zh-CN" altLang="en-US" sz="1400" dirty="0">
                <a:latin typeface="+mn-ea"/>
              </a:rPr>
              <a:t>开发方法论：</a:t>
            </a:r>
            <a:r>
              <a:rPr lang="en-US" altLang="zh-CN" sz="1400" dirty="0">
                <a:latin typeface="+mn-ea"/>
              </a:rPr>
              <a:t>TDD</a:t>
            </a:r>
            <a:r>
              <a:rPr lang="zh-CN" altLang="en-US" sz="1400" dirty="0">
                <a:latin typeface="+mn-ea"/>
              </a:rPr>
              <a:t>测试驱动开发</a:t>
            </a:r>
            <a:endParaRPr lang="en-US" altLang="zh-CN" sz="1400" dirty="0">
              <a:latin typeface="+mn-ea"/>
            </a:endParaRPr>
          </a:p>
          <a:p>
            <a:r>
              <a:rPr lang="zh-CN" altLang="en-US" sz="1400" dirty="0">
                <a:latin typeface="+mn-ea"/>
              </a:rPr>
              <a:t>高并发</a:t>
            </a:r>
            <a:endParaRPr lang="en-US" altLang="zh-CN" sz="1400" dirty="0">
              <a:latin typeface="+mn-ea"/>
            </a:endParaRPr>
          </a:p>
          <a:p>
            <a:r>
              <a:rPr lang="zh-CN" altLang="en-US" sz="1400" dirty="0">
                <a:latin typeface="+mn-ea"/>
              </a:rPr>
              <a:t>混合研发项目管理：瀑布</a:t>
            </a:r>
            <a:r>
              <a:rPr lang="en-US" altLang="zh-CN" sz="1400" dirty="0">
                <a:latin typeface="+mn-ea"/>
              </a:rPr>
              <a:t>+</a:t>
            </a:r>
            <a:r>
              <a:rPr lang="zh-CN" altLang="en-US" sz="1400" dirty="0">
                <a:latin typeface="+mn-ea"/>
              </a:rPr>
              <a:t>敏捷</a:t>
            </a:r>
            <a:endParaRPr lang="en-US" altLang="zh-CN" sz="1400" dirty="0">
              <a:latin typeface="+mn-ea"/>
            </a:endParaRPr>
          </a:p>
          <a:p>
            <a:r>
              <a:rPr lang="zh-CN" altLang="en-US" sz="1400" dirty="0">
                <a:latin typeface="+mn-ea"/>
              </a:rPr>
              <a:t>技术栈：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610568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69239" y="376555"/>
            <a:ext cx="7354074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产品需求亮点说明</a:t>
            </a:r>
          </a:p>
        </p:txBody>
      </p:sp>
      <p:sp>
        <p:nvSpPr>
          <p:cNvPr id="2" name="文本框 1"/>
          <p:cNvSpPr txBox="1"/>
          <p:nvPr/>
        </p:nvSpPr>
        <p:spPr>
          <a:xfrm>
            <a:off x="269239" y="1024985"/>
            <a:ext cx="11922761" cy="510909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b="1" dirty="0">
                <a:latin typeface="+mn-ea"/>
              </a:rPr>
              <a:t>非功能性需求</a:t>
            </a:r>
            <a:endParaRPr lang="en-US" altLang="zh-CN" sz="1400" b="1" dirty="0">
              <a:latin typeface="+mn-ea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effectLst/>
                <a:latin typeface="+mn-ea"/>
              </a:rPr>
              <a:t>1</a:t>
            </a:r>
            <a:r>
              <a:rPr lang="zh-CN" altLang="zh-CN" sz="1400" dirty="0">
                <a:effectLst/>
                <a:latin typeface="+mn-ea"/>
              </a:rPr>
              <a:t>、高性能：能应对</a:t>
            </a:r>
            <a:r>
              <a:rPr lang="en-US" altLang="zh-CN" sz="1400" dirty="0">
                <a:effectLst/>
                <a:latin typeface="+mn-ea"/>
              </a:rPr>
              <a:t>20</a:t>
            </a:r>
            <a:r>
              <a:rPr lang="zh-CN" altLang="zh-CN" sz="1400" dirty="0">
                <a:effectLst/>
                <a:latin typeface="+mn-ea"/>
              </a:rPr>
              <a:t>万片以上产能</a:t>
            </a:r>
            <a:r>
              <a:rPr lang="zh-CN" altLang="en-US" sz="1400" dirty="0">
                <a:latin typeface="+mn-ea"/>
              </a:rPr>
              <a:t>；</a:t>
            </a:r>
            <a:r>
              <a:rPr lang="zh-CN" altLang="en-US" sz="1400" dirty="0">
                <a:effectLst/>
                <a:latin typeface="+mn-ea"/>
              </a:rPr>
              <a:t>高并发，减少数据并发锁，</a:t>
            </a:r>
            <a:r>
              <a:rPr lang="zh-CN" altLang="en-US" sz="1400" dirty="0">
                <a:latin typeface="+mn-ea"/>
              </a:rPr>
              <a:t>数据库瓶颈</a:t>
            </a:r>
            <a:endParaRPr lang="en-US" altLang="zh-CN" sz="1400" dirty="0">
              <a:effectLst/>
              <a:latin typeface="+mn-ea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latin typeface="+mn-ea"/>
              </a:rPr>
              <a:t>2</a:t>
            </a:r>
            <a:r>
              <a:rPr lang="zh-CN" altLang="en-US" sz="1400" dirty="0">
                <a:latin typeface="+mn-ea"/>
              </a:rPr>
              <a:t>、高可用：</a:t>
            </a:r>
            <a:r>
              <a:rPr lang="zh-CN" altLang="zh-CN" sz="1400" dirty="0">
                <a:effectLst/>
                <a:latin typeface="+mn-ea"/>
              </a:rPr>
              <a:t>支持横向和纵向</a:t>
            </a:r>
            <a:r>
              <a:rPr lang="zh-CN" altLang="en-US" sz="1400" dirty="0">
                <a:effectLst/>
                <a:latin typeface="+mn-ea"/>
              </a:rPr>
              <a:t>扩展</a:t>
            </a:r>
            <a:endParaRPr lang="en-US" altLang="zh-CN" sz="1400" dirty="0">
              <a:latin typeface="+mn-ea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effectLst/>
                <a:latin typeface="+mn-ea"/>
              </a:rPr>
              <a:t>	2.1</a:t>
            </a:r>
            <a:r>
              <a:rPr lang="zh-CN" altLang="en-US" sz="1400" dirty="0">
                <a:effectLst/>
                <a:latin typeface="+mn-ea"/>
              </a:rPr>
              <a:t>、</a:t>
            </a:r>
            <a:r>
              <a:rPr lang="en-US" altLang="zh-CN" sz="1400" dirty="0">
                <a:effectLst/>
                <a:latin typeface="+mn-ea"/>
              </a:rPr>
              <a:t>Hot Fix</a:t>
            </a: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latin typeface="+mn-ea"/>
              </a:rPr>
              <a:t>	2.2</a:t>
            </a:r>
            <a:r>
              <a:rPr lang="zh-CN" altLang="en-US" sz="1400" dirty="0">
                <a:latin typeface="+mn-ea"/>
              </a:rPr>
              <a:t>、轻量级</a:t>
            </a:r>
            <a:r>
              <a:rPr lang="en-US" altLang="zh-CN" sz="1400" dirty="0">
                <a:latin typeface="+mn-ea"/>
              </a:rPr>
              <a:t>MES</a:t>
            </a:r>
            <a:r>
              <a:rPr lang="zh-CN" altLang="en-US" sz="1400" dirty="0">
                <a:latin typeface="+mn-ea"/>
              </a:rPr>
              <a:t>，其他变化频繁功能独立服务，如</a:t>
            </a:r>
            <a:r>
              <a:rPr lang="en-US" altLang="zh-CN" sz="1400" dirty="0">
                <a:latin typeface="+mn-ea"/>
              </a:rPr>
              <a:t>Constraint</a:t>
            </a:r>
            <a:r>
              <a:rPr lang="zh-CN" altLang="en-US" sz="1400" dirty="0">
                <a:latin typeface="+mn-ea"/>
              </a:rPr>
              <a:t>、</a:t>
            </a:r>
            <a:r>
              <a:rPr lang="en-US" altLang="zh-CN" sz="1400" dirty="0">
                <a:latin typeface="+mn-ea"/>
              </a:rPr>
              <a:t>Contamination</a:t>
            </a:r>
            <a:r>
              <a:rPr lang="zh-CN" altLang="en-US" sz="1400" dirty="0">
                <a:latin typeface="+mn-ea"/>
              </a:rPr>
              <a:t>、</a:t>
            </a:r>
            <a:r>
              <a:rPr lang="en-US" altLang="zh-CN" sz="1400" dirty="0" err="1">
                <a:latin typeface="+mn-ea"/>
              </a:rPr>
              <a:t>DataCollection</a:t>
            </a:r>
            <a:r>
              <a:rPr lang="zh-CN" altLang="en-US" sz="1400" dirty="0">
                <a:latin typeface="+mn-ea"/>
              </a:rPr>
              <a:t>、</a:t>
            </a:r>
            <a:r>
              <a:rPr lang="zh-CN" altLang="zh-CN" sz="1800" dirty="0">
                <a:effectLst/>
                <a:ea typeface="微软雅黑" panose="020B0503020204020204" pitchFamily="34" charset="-122"/>
              </a:rPr>
              <a:t> </a:t>
            </a:r>
            <a:r>
              <a:rPr lang="zh-CN" altLang="zh-CN" sz="1400" dirty="0">
                <a:latin typeface="+mn-ea"/>
              </a:rPr>
              <a:t>OCAP</a:t>
            </a:r>
            <a:endParaRPr lang="en-US" altLang="zh-CN" sz="1400" dirty="0">
              <a:latin typeface="+mn-ea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latin typeface="+mn-ea"/>
              </a:rPr>
              <a:t>	2.3</a:t>
            </a:r>
            <a:r>
              <a:rPr lang="zh-CN" altLang="en-US" sz="1400" dirty="0">
                <a:latin typeface="+mn-ea"/>
              </a:rPr>
              <a:t>、部署灵活：传统单机</a:t>
            </a:r>
            <a:r>
              <a:rPr lang="en-US" altLang="zh-CN" sz="1400" dirty="0">
                <a:latin typeface="+mn-ea"/>
              </a:rPr>
              <a:t>HA</a:t>
            </a:r>
            <a:r>
              <a:rPr lang="zh-CN" altLang="en-US" sz="1400" dirty="0">
                <a:latin typeface="+mn-ea"/>
              </a:rPr>
              <a:t>、虚拟化、容器化</a:t>
            </a:r>
            <a:endParaRPr lang="en-US" altLang="zh-CN" sz="1400" dirty="0">
              <a:latin typeface="+mn-ea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effectLst/>
                <a:latin typeface="+mn-ea"/>
              </a:rPr>
              <a:t>3</a:t>
            </a:r>
            <a:r>
              <a:rPr lang="zh-CN" altLang="en-US" sz="1400" dirty="0">
                <a:effectLst/>
                <a:latin typeface="+mn-ea"/>
              </a:rPr>
              <a:t>、高可靠</a:t>
            </a:r>
            <a:endParaRPr lang="en-US" altLang="zh-CN" sz="1400" dirty="0">
              <a:effectLst/>
              <a:latin typeface="+mn-ea"/>
            </a:endParaRPr>
          </a:p>
          <a:p>
            <a:r>
              <a:rPr lang="en-US" altLang="zh-CN" sz="1400" dirty="0">
                <a:latin typeface="+mn-ea"/>
              </a:rPr>
              <a:t>4</a:t>
            </a:r>
            <a:r>
              <a:rPr lang="zh-CN" altLang="zh-CN" sz="1400" dirty="0">
                <a:latin typeface="+mn-ea"/>
              </a:rPr>
              <a:t>、统一化逻辑控制设计：按照Auto</a:t>
            </a:r>
            <a:r>
              <a:rPr lang="en-US" altLang="zh-CN" sz="1400" dirty="0">
                <a:latin typeface="+mn-ea"/>
              </a:rPr>
              <a:t>3</a:t>
            </a:r>
            <a:r>
              <a:rPr lang="zh-CN" altLang="zh-CN" sz="1400" dirty="0">
                <a:latin typeface="+mn-ea"/>
              </a:rPr>
              <a:t>来设计Auto</a:t>
            </a:r>
            <a:r>
              <a:rPr lang="en-US" altLang="zh-CN" sz="1400" dirty="0">
                <a:latin typeface="+mn-ea"/>
              </a:rPr>
              <a:t>1</a:t>
            </a:r>
            <a:r>
              <a:rPr lang="zh-CN" altLang="zh-CN" sz="1400" dirty="0">
                <a:latin typeface="+mn-ea"/>
              </a:rPr>
              <a:t>，Auto</a:t>
            </a:r>
            <a:r>
              <a:rPr lang="en-US" altLang="zh-CN" sz="1400" dirty="0">
                <a:latin typeface="+mn-ea"/>
              </a:rPr>
              <a:t>2</a:t>
            </a:r>
            <a:endParaRPr lang="zh-CN" altLang="zh-CN" sz="1400" dirty="0">
              <a:latin typeface="+mn-ea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effectLst/>
                <a:latin typeface="+mn-ea"/>
              </a:rPr>
              <a:t>5</a:t>
            </a:r>
            <a:r>
              <a:rPr lang="zh-CN" altLang="en-US" sz="1400" dirty="0">
                <a:effectLst/>
                <a:latin typeface="+mn-ea"/>
              </a:rPr>
              <a:t>、</a:t>
            </a:r>
            <a:r>
              <a:rPr lang="zh-CN" altLang="en-US" sz="1400" b="1" dirty="0">
                <a:effectLst/>
                <a:latin typeface="+mn-ea"/>
              </a:rPr>
              <a:t>可视化、自动化：业务流、规则可配置</a:t>
            </a:r>
            <a:endParaRPr lang="en-US" altLang="zh-CN" sz="1400" b="1" dirty="0">
              <a:effectLst/>
              <a:latin typeface="+mn-ea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endParaRPr lang="en-US" altLang="zh-CN" sz="1400" dirty="0">
              <a:latin typeface="+mn-ea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effectLst/>
                <a:latin typeface="+mn-ea"/>
              </a:rPr>
              <a:t>基础架构功能性需求：</a:t>
            </a:r>
            <a:endParaRPr lang="en-US" altLang="zh-CN" sz="1400" b="1" dirty="0">
              <a:effectLst/>
              <a:latin typeface="+mn-ea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latin typeface="+mn-ea"/>
              </a:rPr>
              <a:t>1</a:t>
            </a:r>
            <a:r>
              <a:rPr lang="zh-CN" altLang="en-US" sz="1400" b="1" dirty="0">
                <a:latin typeface="+mn-ea"/>
              </a:rPr>
              <a:t>、实时数据库同步和复制</a:t>
            </a:r>
            <a:r>
              <a:rPr lang="zh-CN" altLang="en-US" sz="1400" dirty="0">
                <a:latin typeface="+mn-ea"/>
              </a:rPr>
              <a:t>：</a:t>
            </a:r>
            <a:endParaRPr lang="en-US" altLang="zh-CN" sz="1400" dirty="0">
              <a:effectLst/>
              <a:latin typeface="+mn-ea"/>
            </a:endParaRPr>
          </a:p>
          <a:p>
            <a:pPr lvl="1"/>
            <a:r>
              <a:rPr lang="en-US" altLang="zh-CN" sz="1400" dirty="0">
                <a:latin typeface="+mn-ea"/>
              </a:rPr>
              <a:t>1</a:t>
            </a:r>
            <a:r>
              <a:rPr lang="zh-CN" altLang="en-US" sz="1400" dirty="0">
                <a:latin typeface="+mn-ea"/>
              </a:rPr>
              <a:t>、</a:t>
            </a:r>
            <a:r>
              <a:rPr lang="en-US" altLang="zh-CN" sz="1400" dirty="0">
                <a:latin typeface="+mn-ea"/>
              </a:rPr>
              <a:t>RTD</a:t>
            </a:r>
            <a:r>
              <a:rPr lang="zh-CN" altLang="en-US" sz="1400" dirty="0">
                <a:latin typeface="+mn-ea"/>
              </a:rPr>
              <a:t>数据同步方案</a:t>
            </a:r>
            <a:endParaRPr lang="en-US" altLang="zh-CN" sz="1400" dirty="0">
              <a:latin typeface="+mn-ea"/>
            </a:endParaRPr>
          </a:p>
          <a:p>
            <a:pPr lvl="1"/>
            <a:r>
              <a:rPr lang="en-US" altLang="zh-CN" sz="1400" dirty="0">
                <a:latin typeface="+mn-ea"/>
              </a:rPr>
              <a:t>	RTD</a:t>
            </a:r>
            <a:r>
              <a:rPr lang="zh-CN" altLang="en-US" sz="1400" dirty="0">
                <a:latin typeface="+mn-ea"/>
              </a:rPr>
              <a:t>需要的数据实时性要高，跟</a:t>
            </a:r>
            <a:r>
              <a:rPr lang="en-US" altLang="zh-CN" sz="1400" dirty="0">
                <a:latin typeface="+mn-ea"/>
              </a:rPr>
              <a:t>MES DB</a:t>
            </a:r>
            <a:r>
              <a:rPr lang="zh-CN" altLang="en-US" sz="1400" dirty="0">
                <a:latin typeface="+mn-ea"/>
              </a:rPr>
              <a:t> </a:t>
            </a:r>
            <a:r>
              <a:rPr lang="en-US" altLang="zh-CN" sz="1400" dirty="0">
                <a:latin typeface="+mn-ea"/>
              </a:rPr>
              <a:t>1</a:t>
            </a:r>
            <a:r>
              <a:rPr lang="zh-CN" altLang="en-US" sz="1400" dirty="0">
                <a:latin typeface="+mn-ea"/>
              </a:rPr>
              <a:t>秒左右的延时，</a:t>
            </a:r>
            <a:r>
              <a:rPr lang="en-US" altLang="zh-CN" sz="1400" dirty="0">
                <a:latin typeface="+mn-ea"/>
              </a:rPr>
              <a:t>MES </a:t>
            </a:r>
            <a:r>
              <a:rPr lang="zh-CN" altLang="en-US" sz="1400" dirty="0">
                <a:latin typeface="+mn-ea"/>
              </a:rPr>
              <a:t>使用</a:t>
            </a:r>
            <a:r>
              <a:rPr lang="en-US" altLang="zh-CN" sz="1400" dirty="0">
                <a:latin typeface="+mn-ea"/>
              </a:rPr>
              <a:t>Event </a:t>
            </a:r>
            <a:r>
              <a:rPr lang="en-US" altLang="zh-CN" sz="1400" dirty="0" err="1">
                <a:latin typeface="+mn-ea"/>
              </a:rPr>
              <a:t>Soure</a:t>
            </a:r>
            <a:r>
              <a:rPr lang="zh-CN" altLang="en-US" sz="1400" dirty="0">
                <a:latin typeface="+mn-ea"/>
              </a:rPr>
              <a:t>提供</a:t>
            </a:r>
            <a:r>
              <a:rPr lang="en-US" altLang="zh-CN" sz="1400" dirty="0">
                <a:latin typeface="+mn-ea"/>
              </a:rPr>
              <a:t>RTD</a:t>
            </a:r>
            <a:r>
              <a:rPr lang="zh-CN" altLang="en-US" sz="1400" dirty="0">
                <a:latin typeface="+mn-ea"/>
              </a:rPr>
              <a:t>需要的实时数据库同步信息。</a:t>
            </a:r>
            <a:endParaRPr lang="en-US" altLang="zh-CN" sz="1400" dirty="0">
              <a:latin typeface="+mn-ea"/>
            </a:endParaRPr>
          </a:p>
          <a:p>
            <a:pPr lvl="1"/>
            <a:r>
              <a:rPr lang="en-US" altLang="zh-CN" sz="1400" dirty="0">
                <a:latin typeface="+mn-ea"/>
              </a:rPr>
              <a:t>	</a:t>
            </a:r>
            <a:r>
              <a:rPr lang="zh-CN" altLang="en-US" sz="1400" dirty="0">
                <a:latin typeface="+mn-ea"/>
              </a:rPr>
              <a:t>珂阳</a:t>
            </a:r>
            <a:r>
              <a:rPr lang="en-US" altLang="zh-CN" sz="1400" dirty="0">
                <a:latin typeface="+mn-ea"/>
              </a:rPr>
              <a:t>RTD</a:t>
            </a:r>
            <a:r>
              <a:rPr lang="zh-CN" altLang="en-US" sz="1400" dirty="0">
                <a:latin typeface="+mn-ea"/>
              </a:rPr>
              <a:t>集成方案；其它</a:t>
            </a:r>
            <a:r>
              <a:rPr lang="en-US" altLang="zh-CN" sz="1400" dirty="0">
                <a:latin typeface="+mn-ea"/>
              </a:rPr>
              <a:t>RTD</a:t>
            </a:r>
            <a:r>
              <a:rPr lang="zh-CN" altLang="en-US" sz="1400" dirty="0">
                <a:latin typeface="+mn-ea"/>
              </a:rPr>
              <a:t>集成方案</a:t>
            </a:r>
            <a:endParaRPr lang="en-US" altLang="zh-CN" sz="1400" dirty="0">
              <a:latin typeface="+mn-ea"/>
            </a:endParaRPr>
          </a:p>
          <a:p>
            <a:pPr lvl="1"/>
            <a:r>
              <a:rPr lang="en-US" altLang="zh-CN" sz="1400" dirty="0">
                <a:latin typeface="+mn-ea"/>
              </a:rPr>
              <a:t>2</a:t>
            </a:r>
            <a:r>
              <a:rPr lang="zh-CN" altLang="en-US" sz="1400" dirty="0">
                <a:latin typeface="+mn-ea"/>
              </a:rPr>
              <a:t>、</a:t>
            </a:r>
            <a:r>
              <a:rPr lang="en-US" altLang="zh-CN" sz="1400" dirty="0">
                <a:latin typeface="+mn-ea"/>
              </a:rPr>
              <a:t>RTS</a:t>
            </a:r>
            <a:r>
              <a:rPr lang="zh-CN" altLang="en-US" sz="1400" dirty="0">
                <a:latin typeface="+mn-ea"/>
              </a:rPr>
              <a:t>数据同步方案，</a:t>
            </a:r>
            <a:r>
              <a:rPr lang="en-US" altLang="zh-CN" sz="1400" dirty="0">
                <a:latin typeface="+mn-ea"/>
              </a:rPr>
              <a:t>MES-RTS</a:t>
            </a:r>
            <a:r>
              <a:rPr lang="zh-CN" altLang="en-US" sz="1400" dirty="0">
                <a:latin typeface="+mn-ea"/>
              </a:rPr>
              <a:t>数据同步实时性低，</a:t>
            </a:r>
            <a:r>
              <a:rPr lang="en-US" altLang="zh-CN" sz="1400" dirty="0">
                <a:latin typeface="+mn-ea"/>
              </a:rPr>
              <a:t>5</a:t>
            </a:r>
            <a:r>
              <a:rPr lang="zh-CN" altLang="en-US" sz="1400" dirty="0">
                <a:latin typeface="+mn-ea"/>
              </a:rPr>
              <a:t>分钟以上</a:t>
            </a:r>
            <a:endParaRPr lang="en-US" altLang="zh-CN" sz="1400" dirty="0">
              <a:latin typeface="+mn-ea"/>
            </a:endParaRPr>
          </a:p>
          <a:p>
            <a:pPr lvl="1"/>
            <a:r>
              <a:rPr lang="en-US" altLang="zh-CN" sz="1400" dirty="0">
                <a:latin typeface="+mn-ea"/>
              </a:rPr>
              <a:t>3</a:t>
            </a:r>
            <a:r>
              <a:rPr lang="zh-CN" altLang="en-US" sz="1400" dirty="0">
                <a:latin typeface="+mn-ea"/>
              </a:rPr>
              <a:t>、大数据同步方案：通过</a:t>
            </a:r>
            <a:r>
              <a:rPr lang="en-US" altLang="zh-CN" sz="1400" dirty="0">
                <a:latin typeface="+mn-ea"/>
              </a:rPr>
              <a:t>Event Source</a:t>
            </a:r>
            <a:r>
              <a:rPr lang="zh-CN" altLang="en-US" sz="1400" dirty="0">
                <a:latin typeface="+mn-ea"/>
              </a:rPr>
              <a:t>，集成</a:t>
            </a:r>
            <a:r>
              <a:rPr lang="en-US" altLang="zh-CN" sz="1400" dirty="0">
                <a:latin typeface="+mn-ea"/>
              </a:rPr>
              <a:t>Kafka</a:t>
            </a:r>
            <a:r>
              <a:rPr lang="zh-CN" altLang="en-US" sz="1400" dirty="0">
                <a:latin typeface="+mn-ea"/>
              </a:rPr>
              <a:t>，实时同步</a:t>
            </a:r>
            <a:r>
              <a:rPr lang="en-US" altLang="zh-CN" sz="1400" dirty="0">
                <a:latin typeface="+mn-ea"/>
              </a:rPr>
              <a:t>MES </a:t>
            </a:r>
            <a:r>
              <a:rPr lang="zh-CN" altLang="en-US" sz="1400" dirty="0">
                <a:latin typeface="+mn-ea"/>
              </a:rPr>
              <a:t>生产和历史数据库数据</a:t>
            </a:r>
            <a:endParaRPr lang="en-US" altLang="zh-CN" sz="1400" dirty="0">
              <a:latin typeface="+mn-ea"/>
            </a:endParaRPr>
          </a:p>
          <a:p>
            <a:pPr marL="0" lvl="1"/>
            <a:r>
              <a:rPr lang="en-US" altLang="zh-CN" sz="1400" b="1" dirty="0">
                <a:latin typeface="+mn-ea"/>
              </a:rPr>
              <a:t>2</a:t>
            </a:r>
            <a:r>
              <a:rPr lang="zh-CN" altLang="en-US" sz="1400" b="1" dirty="0">
                <a:latin typeface="+mn-ea"/>
              </a:rPr>
              <a:t>、</a:t>
            </a:r>
            <a:r>
              <a:rPr lang="en-US" altLang="zh-CN" sz="1400" b="1" dirty="0">
                <a:latin typeface="+mn-ea"/>
              </a:rPr>
              <a:t>Kafka/RabbitMQ/Tib </a:t>
            </a:r>
            <a:r>
              <a:rPr lang="en-US" altLang="zh-CN" sz="1400" b="1" dirty="0" err="1">
                <a:latin typeface="+mn-ea"/>
              </a:rPr>
              <a:t>rv</a:t>
            </a:r>
            <a:r>
              <a:rPr lang="zh-CN" altLang="en-US" sz="1400" b="1" dirty="0">
                <a:latin typeface="+mn-ea"/>
              </a:rPr>
              <a:t>等消息中间件集成方</a:t>
            </a:r>
            <a:endParaRPr lang="en-US" altLang="zh-CN" sz="1400" b="1" dirty="0">
              <a:latin typeface="+mn-ea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400" b="1" dirty="0">
                <a:latin typeface="+mn-ea"/>
              </a:rPr>
              <a:t>3</a:t>
            </a:r>
            <a:r>
              <a:rPr lang="zh-CN" altLang="en-US" sz="1400" b="1" dirty="0">
                <a:latin typeface="+mn-ea"/>
              </a:rPr>
              <a:t>、自动化测试工具</a:t>
            </a:r>
            <a:endParaRPr lang="en-US" altLang="zh-CN" sz="1400" b="1" dirty="0">
              <a:effectLst/>
              <a:latin typeface="+mn-ea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zh-CN" altLang="en-US" sz="1400" b="1" dirty="0">
                <a:latin typeface="+mn-ea"/>
              </a:rPr>
              <a:t>功能性需求</a:t>
            </a:r>
            <a:r>
              <a:rPr lang="zh-CN" altLang="en-US" sz="1400" dirty="0">
                <a:latin typeface="+mn-ea"/>
              </a:rPr>
              <a:t>：</a:t>
            </a:r>
            <a:endParaRPr lang="en-US" altLang="zh-CN" sz="1400" dirty="0">
              <a:latin typeface="+mn-ea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effectLst/>
                <a:latin typeface="+mn-ea"/>
              </a:rPr>
              <a:t>1</a:t>
            </a:r>
            <a:r>
              <a:rPr lang="zh-CN" altLang="en-US" sz="1400" dirty="0">
                <a:effectLst/>
                <a:latin typeface="+mn-ea"/>
              </a:rPr>
              <a:t>、</a:t>
            </a:r>
            <a:r>
              <a:rPr lang="zh-CN" altLang="en-US" sz="1400" b="1" dirty="0">
                <a:effectLst/>
                <a:latin typeface="+mn-ea"/>
              </a:rPr>
              <a:t>跨工厂方案</a:t>
            </a:r>
            <a:r>
              <a:rPr lang="zh-CN" altLang="en-US" sz="1400" dirty="0">
                <a:effectLst/>
                <a:latin typeface="+mn-ea"/>
              </a:rPr>
              <a:t>：集团化方案（集团内</a:t>
            </a:r>
            <a:r>
              <a:rPr lang="zh-CN" altLang="en-US" sz="1400" dirty="0">
                <a:latin typeface="+mn-ea"/>
              </a:rPr>
              <a:t>一套</a:t>
            </a:r>
            <a:r>
              <a:rPr lang="en-US" altLang="zh-CN" sz="1400" dirty="0">
                <a:latin typeface="+mn-ea"/>
              </a:rPr>
              <a:t>MES</a:t>
            </a:r>
            <a:r>
              <a:rPr lang="zh-CN" altLang="en-US" sz="1400" dirty="0">
                <a:latin typeface="+mn-ea"/>
              </a:rPr>
              <a:t>方案</a:t>
            </a:r>
            <a:r>
              <a:rPr lang="en-US" altLang="zh-CN" sz="1400" dirty="0">
                <a:latin typeface="+mn-ea"/>
              </a:rPr>
              <a:t>)</a:t>
            </a:r>
            <a:r>
              <a:rPr lang="zh-CN" altLang="en-US" sz="1400" dirty="0">
                <a:effectLst/>
                <a:latin typeface="+mn-ea"/>
              </a:rPr>
              <a:t>；部分工艺外包方案（集团内不同</a:t>
            </a:r>
            <a:r>
              <a:rPr lang="en-US" altLang="zh-CN" sz="1400" dirty="0">
                <a:effectLst/>
                <a:latin typeface="+mn-ea"/>
              </a:rPr>
              <a:t>MES</a:t>
            </a:r>
            <a:r>
              <a:rPr lang="zh-CN" altLang="en-US" sz="1400" dirty="0">
                <a:effectLst/>
                <a:latin typeface="+mn-ea"/>
              </a:rPr>
              <a:t>跨工厂方案；不同公司跨工厂方案）；</a:t>
            </a:r>
            <a:endParaRPr lang="en-US" altLang="zh-CN" sz="1400" dirty="0">
              <a:latin typeface="+mn-ea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effectLst/>
                <a:latin typeface="+mn-ea"/>
              </a:rPr>
              <a:t>2</a:t>
            </a:r>
            <a:r>
              <a:rPr lang="zh-CN" altLang="en-US" sz="1400" dirty="0">
                <a:latin typeface="+mn-ea"/>
              </a:rPr>
              <a:t>、</a:t>
            </a:r>
            <a:r>
              <a:rPr lang="zh-CN" altLang="en-US" sz="1400" b="1" dirty="0">
                <a:latin typeface="+mn-ea"/>
              </a:rPr>
              <a:t>人力管理方案</a:t>
            </a:r>
            <a:r>
              <a:rPr lang="zh-CN" altLang="en-US" sz="1400" dirty="0">
                <a:latin typeface="+mn-ea"/>
              </a:rPr>
              <a:t>：培训、资格认证（</a:t>
            </a:r>
            <a:r>
              <a:rPr lang="en-US" altLang="zh-CN" sz="1400" dirty="0">
                <a:latin typeface="+mn-ea"/>
              </a:rPr>
              <a:t>MES</a:t>
            </a:r>
            <a:r>
              <a:rPr lang="zh-CN" altLang="en-US" sz="1400" dirty="0">
                <a:latin typeface="+mn-ea"/>
              </a:rPr>
              <a:t>权限关联）、制造人效</a:t>
            </a:r>
            <a:endParaRPr lang="en-US" altLang="zh-CN" sz="1400" dirty="0">
              <a:latin typeface="+mn-ea"/>
            </a:endParaRPr>
          </a:p>
          <a:p>
            <a:pPr marL="0" marR="0">
              <a:spcBef>
                <a:spcPts val="0"/>
              </a:spcBef>
              <a:spcAft>
                <a:spcPts val="0"/>
              </a:spcAft>
            </a:pPr>
            <a:r>
              <a:rPr lang="en-US" altLang="zh-CN" sz="1400" dirty="0">
                <a:latin typeface="+mn-ea"/>
              </a:rPr>
              <a:t>3</a:t>
            </a:r>
            <a:r>
              <a:rPr lang="zh-CN" altLang="en-US" sz="1400" dirty="0">
                <a:latin typeface="+mn-ea"/>
              </a:rPr>
              <a:t>、</a:t>
            </a:r>
            <a:r>
              <a:rPr lang="en-US" altLang="zh-CN" sz="1400" b="1" dirty="0">
                <a:latin typeface="+mn-ea"/>
              </a:rPr>
              <a:t>Fabless </a:t>
            </a:r>
            <a:r>
              <a:rPr lang="zh-CN" altLang="en-US" sz="1400" b="1" dirty="0">
                <a:latin typeface="+mn-ea"/>
              </a:rPr>
              <a:t>设计公司接口方案</a:t>
            </a:r>
            <a:r>
              <a:rPr lang="zh-CN" altLang="en-US" sz="1400" dirty="0">
                <a:latin typeface="+mn-ea"/>
              </a:rPr>
              <a:t>：</a:t>
            </a:r>
            <a:r>
              <a:rPr lang="en-US" altLang="zh-CN" sz="1400" dirty="0">
                <a:latin typeface="+mn-ea"/>
              </a:rPr>
              <a:t>Fabless EMES</a:t>
            </a:r>
            <a:r>
              <a:rPr lang="en-US" altLang="zh-CN" sz="1400" dirty="0">
                <a:latin typeface="+mn-ea"/>
                <a:sym typeface="Wingdings" panose="05000000000000000000" pitchFamily="2" charset="2"/>
              </a:rPr>
              <a:t></a:t>
            </a:r>
            <a:r>
              <a:rPr lang="en-US" altLang="zh-CN" sz="1400" dirty="0" err="1">
                <a:latin typeface="+mn-ea"/>
                <a:sym typeface="Wingdings" panose="05000000000000000000" pitchFamily="2" charset="2"/>
              </a:rPr>
              <a:t>DataHandling</a:t>
            </a:r>
            <a:r>
              <a:rPr lang="en-US" altLang="zh-CN" sz="1400" dirty="0">
                <a:latin typeface="+mn-ea"/>
                <a:sym typeface="Wingdings" panose="05000000000000000000" pitchFamily="2" charset="2"/>
              </a:rPr>
              <a:t>MES/MDP</a:t>
            </a:r>
            <a:endParaRPr lang="zh-CN" altLang="zh-CN" sz="1400" dirty="0">
              <a:effectLst/>
              <a:latin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69240" y="376555"/>
            <a:ext cx="4152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4EA2"/>
                </a:solidFill>
                <a:effectLst/>
                <a:uLnTx/>
                <a:uFillTx/>
                <a:latin typeface="Roboto" panose="02000000000000000000" pitchFamily="2" charset="0"/>
                <a:ea typeface="Noto Sans S Chinese Bold" panose="020B0800000000000000" pitchFamily="34" charset="-122"/>
                <a:cs typeface="+mn-cs"/>
              </a:rPr>
              <a:t>研发内容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4EA2"/>
                </a:solidFill>
                <a:effectLst/>
                <a:uLnTx/>
                <a:uFillTx/>
                <a:latin typeface="Roboto" panose="02000000000000000000" pitchFamily="2" charset="0"/>
                <a:ea typeface="Noto Sans S Chinese Bold" panose="020B0800000000000000" pitchFamily="34" charset="-122"/>
                <a:cs typeface="+mn-cs"/>
              </a:rPr>
              <a:t>-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4EA2"/>
                </a:solidFill>
                <a:effectLst/>
                <a:uLnTx/>
                <a:uFillTx/>
                <a:latin typeface="Roboto" panose="02000000000000000000" pitchFamily="2" charset="0"/>
                <a:ea typeface="Noto Sans S Chinese Bold" panose="020B0800000000000000" pitchFamily="34" charset="-122"/>
                <a:cs typeface="+mn-cs"/>
              </a:rPr>
              <a:t>技术栈</a:t>
            </a:r>
          </a:p>
        </p:txBody>
      </p:sp>
      <p:graphicFrame>
        <p:nvGraphicFramePr>
          <p:cNvPr id="3" name="表格 3"/>
          <p:cNvGraphicFramePr>
            <a:graphicFrameLocks noGrp="1"/>
          </p:cNvGraphicFramePr>
          <p:nvPr/>
        </p:nvGraphicFramePr>
        <p:xfrm>
          <a:off x="269240" y="898525"/>
          <a:ext cx="11849072" cy="573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1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8847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48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技术栈</a:t>
                      </a:r>
                    </a:p>
                  </a:txBody>
                  <a:tcPr>
                    <a:solidFill>
                      <a:srgbClr val="126F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依赖组件</a:t>
                      </a:r>
                    </a:p>
                  </a:txBody>
                  <a:tcPr>
                    <a:solidFill>
                      <a:srgbClr val="126F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开源许可协议</a:t>
                      </a:r>
                    </a:p>
                  </a:txBody>
                  <a:tcPr>
                    <a:solidFill>
                      <a:srgbClr val="126F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备注</a:t>
                      </a:r>
                    </a:p>
                  </a:txBody>
                  <a:tcPr>
                    <a:solidFill>
                      <a:srgbClr val="126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04">
                <a:tc rowSpan="4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流程引擎</a:t>
                      </a:r>
                      <a:endParaRPr lang="en-US" altLang="zh-CN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algn="l" defTabSz="914400" rtl="0" eaLnBrk="1" latinLnBrk="0" hangingPunct="1"/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Workflow engine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Camunda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4"/>
                        </a:rPr>
                        <a:t>GPL-2.0 license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Java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RPA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BPMN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DMN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CMMN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。原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Activity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人员重构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1pPr>
                      <a:lvl2pPr marL="46609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2pPr>
                      <a:lvl3pPr marL="93281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3pPr>
                      <a:lvl4pPr marL="139890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4pPr>
                      <a:lvl5pPr marL="186563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5pPr>
                      <a:lvl6pPr marL="233172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6pPr>
                      <a:lvl7pPr marL="279844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7pPr>
                      <a:lvl8pPr marL="326453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8pPr>
                      <a:lvl9pPr marL="373126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Elsa-core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1pPr>
                      <a:lvl2pPr marL="46609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2pPr>
                      <a:lvl3pPr marL="93281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3pPr>
                      <a:lvl4pPr marL="139890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4pPr>
                      <a:lvl5pPr marL="186563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5pPr>
                      <a:lvl6pPr marL="233172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6pPr>
                      <a:lvl7pPr marL="279844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7pPr>
                      <a:lvl8pPr marL="326453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8pPr>
                      <a:lvl9pPr marL="373126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5"/>
                        </a:rPr>
                        <a:t>MIT license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1pPr>
                      <a:lvl2pPr marL="46609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2pPr>
                      <a:lvl3pPr marL="93281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3pPr>
                      <a:lvl4pPr marL="139890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4pPr>
                      <a:lvl5pPr marL="186563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5pPr>
                      <a:lvl6pPr marL="233172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6pPr>
                      <a:lvl7pPr marL="279844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7pPr>
                      <a:lvl8pPr marL="326453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8pPr>
                      <a:lvl9pPr marL="373126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9pPr>
                    </a:lstStyle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C#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200" dirty="0" err="1">
                          <a:latin typeface="+mn-ea"/>
                          <a:ea typeface="+mn-ea"/>
                        </a:rPr>
                        <a:t>Js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。设备自动化仿真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Flowable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Activity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7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404">
                <a:tc rowSpan="5"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规则引擎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Rule Engine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Liteflow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6"/>
                        </a:rPr>
                        <a:t>Apache-2.0 license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国内产品，</a:t>
                      </a:r>
                      <a:r>
                        <a:rPr lang="en-US" altLang="zh-CN" sz="1200" dirty="0" err="1">
                          <a:latin typeface="+mn-ea"/>
                          <a:ea typeface="+mn-ea"/>
                        </a:rPr>
                        <a:t>gitee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Java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7"/>
                        </a:rPr>
                        <a:t>kiegroup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8"/>
                        </a:rPr>
                        <a:t>drools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9" tooltip="http://www.drools.org"/>
                        </a:rPr>
                        <a:t>www.drools.org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Java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DMN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CEP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NRules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5"/>
                        </a:rPr>
                        <a:t>MIT license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C#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internal DSL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，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Rete matching algorithm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Common.DMN.Engine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5"/>
                        </a:rPr>
                        <a:t>MIT license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C#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DMN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，可以解析使用</a:t>
                      </a:r>
                      <a:r>
                        <a:rPr lang="en-US" altLang="zh-CN" sz="1200" dirty="0" err="1">
                          <a:latin typeface="+mn-ea"/>
                          <a:ea typeface="+mn-ea"/>
                        </a:rPr>
                        <a:t>camunda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 Modeler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定义文件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10"/>
                        </a:rPr>
                        <a:t>microsoft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11"/>
                        </a:rPr>
                        <a:t>RulesEngine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5"/>
                        </a:rPr>
                        <a:t>MIT license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A </a:t>
                      </a: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Json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based Rules Engine with extensive Dynamic expression support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404">
                <a:tc rowSpan="2"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图形库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Diagram library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QuikGraph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12"/>
                        </a:rPr>
                        <a:t> MS-PL license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C#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200" dirty="0" err="1">
                          <a:latin typeface="+mn-ea"/>
                          <a:ea typeface="+mn-ea"/>
                        </a:rPr>
                        <a:t>Graphviz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maxGraph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6"/>
                        </a:rPr>
                        <a:t>Apache-2.0 license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 err="1">
                          <a:latin typeface="+mn-ea"/>
                          <a:ea typeface="+mn-ea"/>
                        </a:rPr>
                        <a:t>Js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，</a:t>
                      </a:r>
                      <a:r>
                        <a:rPr lang="en-US" altLang="zh-CN" sz="1200" dirty="0" err="1">
                          <a:latin typeface="+mn-ea"/>
                          <a:ea typeface="+mn-ea"/>
                        </a:rPr>
                        <a:t>ts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404">
                <a:tc rowSpan="3"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Modeling tool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13"/>
                        </a:rPr>
                        <a:t>camunda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13"/>
                        </a:rPr>
                        <a:t>-modeler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5"/>
                        </a:rPr>
                        <a:t>MIT license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dirty="0" err="1">
                          <a:latin typeface="+mn-ea"/>
                          <a:ea typeface="+mn-ea"/>
                        </a:rPr>
                        <a:t>Bpmn-js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BPMN-</a:t>
                      </a: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js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14"/>
                        </a:rPr>
                        <a:t>bpmn.io license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j's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81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15"/>
                        </a:rPr>
                        <a:t>alexreich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16"/>
                        </a:rPr>
                        <a:t>RulesEngineEditor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17"/>
                        </a:rPr>
                        <a:t>CC-BY-4.0 license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Editor for Microsoft </a:t>
                      </a: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RulesEngine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- </a:t>
                      </a: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Blazor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UI library intended for integration in Web or Desktop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31347">
                <a:tc rowSpan="2"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序列化框架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10"/>
                        </a:rPr>
                        <a:t>microsoft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18"/>
                        </a:rPr>
                        <a:t>bond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5"/>
                        </a:rPr>
                        <a:t>MIT license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Bond is a cross-platform framework for working with schematized data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。</a:t>
                      </a:r>
                      <a:endParaRPr lang="en-US" altLang="zh-CN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数据抽象：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DSL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；代码生成工具；协议实现。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19"/>
                        </a:rPr>
                        <a:t>https://www.srcmini.com/43820.html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Protobuff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69240" y="376555"/>
            <a:ext cx="415290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4EA2"/>
                </a:solidFill>
                <a:effectLst/>
                <a:uLnTx/>
                <a:uFillTx/>
                <a:latin typeface="Roboto" panose="02000000000000000000" pitchFamily="2" charset="0"/>
                <a:ea typeface="Noto Sans S Chinese Bold" panose="020B0800000000000000" pitchFamily="34" charset="-122"/>
                <a:cs typeface="+mn-cs"/>
              </a:rPr>
              <a:t>研发内容</a:t>
            </a:r>
            <a:r>
              <a:rPr kumimoji="0" lang="en-US" altLang="zh-CN" sz="2800" b="1" i="0" u="none" strike="noStrike" kern="1200" cap="none" spc="0" normalizeH="0" baseline="0" noProof="0" dirty="0">
                <a:ln>
                  <a:noFill/>
                </a:ln>
                <a:solidFill>
                  <a:srgbClr val="004EA2"/>
                </a:solidFill>
                <a:effectLst/>
                <a:uLnTx/>
                <a:uFillTx/>
                <a:latin typeface="Roboto" panose="02000000000000000000" pitchFamily="2" charset="0"/>
                <a:ea typeface="Noto Sans S Chinese Bold" panose="020B0800000000000000" pitchFamily="34" charset="-122"/>
                <a:cs typeface="+mn-cs"/>
              </a:rPr>
              <a:t>- </a:t>
            </a: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04EA2"/>
                </a:solidFill>
                <a:effectLst/>
                <a:uLnTx/>
                <a:uFillTx/>
                <a:latin typeface="Roboto" panose="02000000000000000000" pitchFamily="2" charset="0"/>
                <a:ea typeface="Noto Sans S Chinese Bold" panose="020B0800000000000000" pitchFamily="34" charset="-122"/>
                <a:cs typeface="+mn-cs"/>
              </a:rPr>
              <a:t>技术栈</a:t>
            </a:r>
          </a:p>
        </p:txBody>
      </p:sp>
      <p:graphicFrame>
        <p:nvGraphicFramePr>
          <p:cNvPr id="3" name="表格 3"/>
          <p:cNvGraphicFramePr>
            <a:graphicFrameLocks noGrp="1"/>
          </p:cNvGraphicFramePr>
          <p:nvPr/>
        </p:nvGraphicFramePr>
        <p:xfrm>
          <a:off x="269240" y="1086639"/>
          <a:ext cx="11801891" cy="53724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1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77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313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4129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4648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技术栈</a:t>
                      </a:r>
                    </a:p>
                  </a:txBody>
                  <a:tcPr>
                    <a:solidFill>
                      <a:srgbClr val="126F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依赖组件</a:t>
                      </a:r>
                    </a:p>
                  </a:txBody>
                  <a:tcPr>
                    <a:solidFill>
                      <a:srgbClr val="126F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开源许可协议</a:t>
                      </a:r>
                    </a:p>
                  </a:txBody>
                  <a:tcPr>
                    <a:solidFill>
                      <a:srgbClr val="126FB8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zh-CN" altLang="en-US" sz="1800" b="1" kern="1200" dirty="0">
                          <a:solidFill>
                            <a:schemeClr val="lt1"/>
                          </a:solidFill>
                          <a:latin typeface="+mn-ea"/>
                          <a:ea typeface="+mn-ea"/>
                          <a:cs typeface="+mn-cs"/>
                        </a:rPr>
                        <a:t>备注</a:t>
                      </a:r>
                    </a:p>
                  </a:txBody>
                  <a:tcPr>
                    <a:solidFill>
                      <a:srgbClr val="126F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5404">
                <a:tc rowSpan="4"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Actor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框架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Akka.net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4"/>
                        </a:rPr>
                        <a:t>GPL-2.0 license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CQRS, ES(Event Source)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1pPr>
                      <a:lvl2pPr marL="46609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2pPr>
                      <a:lvl3pPr marL="93281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3pPr>
                      <a:lvl4pPr marL="139890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4pPr>
                      <a:lvl5pPr marL="186563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5pPr>
                      <a:lvl6pPr marL="233172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6pPr>
                      <a:lvl7pPr marL="279844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7pPr>
                      <a:lvl8pPr marL="326453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8pPr>
                      <a:lvl9pPr marL="373126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b="1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Proto.Actor</a:t>
                      </a:r>
                      <a:endParaRPr lang="zh-CN" altLang="en-US" sz="1400" b="1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1pPr>
                      <a:lvl2pPr marL="46609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2pPr>
                      <a:lvl3pPr marL="93281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3pPr>
                      <a:lvl4pPr marL="139890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4pPr>
                      <a:lvl5pPr marL="186563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5pPr>
                      <a:lvl6pPr marL="233172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6pPr>
                      <a:lvl7pPr marL="279844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7pPr>
                      <a:lvl8pPr marL="326453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8pPr>
                      <a:lvl9pPr marL="373126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方正兰亭黑简体"/>
                          <a:cs typeface="+mn-cs"/>
                          <a:hlinkClick r:id="rId5"/>
                        </a:rPr>
                        <a:t>Apache-2.0 license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方正兰亭黑简体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1pPr>
                      <a:lvl2pPr marL="46609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2pPr>
                      <a:lvl3pPr marL="93281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3pPr>
                      <a:lvl4pPr marL="139890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4pPr>
                      <a:lvl5pPr marL="186563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5pPr>
                      <a:lvl6pPr marL="233172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6pPr>
                      <a:lvl7pPr marL="279844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7pPr>
                      <a:lvl8pPr marL="3264535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8pPr>
                      <a:lvl9pPr marL="3731260" algn="l" defTabSz="932815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 Unicode MS"/>
                          <a:ea typeface="方正兰亭黑简体"/>
                        </a:defRPr>
                      </a:lvl9pPr>
                    </a:lstStyle>
                    <a:p>
                      <a:pPr marL="0" algn="l" defTabSz="914400" rtl="0" eaLnBrk="1" latinLnBrk="0" hangingPunct="1"/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6"/>
                        </a:rPr>
                        <a:t>asynkron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2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7"/>
                        </a:rPr>
                        <a:t>protoactor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7"/>
                        </a:rPr>
                        <a:t>-dotnet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Dapr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跨平台，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Go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语言写的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AKKA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Scalar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写的，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Java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5404">
                <a:tc rowSpan="5"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测试框架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BDD</a:t>
                      </a:r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行为驱动开发</a:t>
                      </a:r>
                      <a:endParaRPr lang="en-US" altLang="zh-CN" sz="1400" dirty="0">
                        <a:latin typeface="+mn-ea"/>
                        <a:ea typeface="+mn-ea"/>
                      </a:endParaRPr>
                    </a:p>
                    <a:p>
                      <a:r>
                        <a:rPr lang="en-US" altLang="zh-CN" sz="1400" dirty="0">
                          <a:latin typeface="+mn-ea"/>
                          <a:ea typeface="+mn-ea"/>
                        </a:rPr>
                        <a:t>Behavior Driven Development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altLang="zh-CN" sz="1400" dirty="0" err="1">
                          <a:latin typeface="+mn-ea"/>
                          <a:ea typeface="+mn-ea"/>
                        </a:rPr>
                        <a:t>Specflow+xunit</a:t>
                      </a:r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8"/>
                        </a:rPr>
                        <a:t> Gherkin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自然语言测试文件描述。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Feature/Scenario/Step</a:t>
                      </a:r>
                      <a:r>
                        <a:rPr lang="zh-CN" altLang="en-US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三级。</a:t>
                      </a:r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Net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Cucumber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en-US" altLang="zh-CN" sz="12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Java</a:t>
                      </a: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05404">
                <a:tc rowSpan="2"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开发框架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Spring boot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AOP/IoC/ORM/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；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AOP</a:t>
                      </a:r>
                      <a:r>
                        <a:rPr lang="zh-CN" altLang="en-US" sz="1200" dirty="0">
                          <a:latin typeface="+mn-ea"/>
                          <a:ea typeface="+mn-ea"/>
                        </a:rPr>
                        <a:t>：</a:t>
                      </a:r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Security/Log/Performance/Transaction/Exception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ABP </a:t>
                      </a: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vNext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05404">
                <a:tc rowSpan="3"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定时任务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Quatz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05404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9"/>
                        </a:rPr>
                        <a:t>HangfireIO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zh-CN" sz="1400" kern="1200" dirty="0" err="1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  <a:hlinkClick r:id="rId10"/>
                        </a:rPr>
                        <a:t>Hangfire</a:t>
                      </a: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sz="1200" dirty="0">
                          <a:latin typeface="+mn-ea"/>
                          <a:ea typeface="+mn-ea"/>
                        </a:rPr>
                        <a:t>C#</a:t>
                      </a:r>
                      <a:endParaRPr lang="zh-CN" altLang="en-US" sz="1200" dirty="0">
                        <a:latin typeface="+mn-ea"/>
                        <a:ea typeface="+mn-ea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08105">
                <a:tc vMerge="1">
                  <a:txBody>
                    <a:bodyPr/>
                    <a:lstStyle/>
                    <a:p>
                      <a:endParaRPr lang="zh-CN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431347">
                <a:tc>
                  <a:txBody>
                    <a:bodyPr/>
                    <a:lstStyle/>
                    <a:p>
                      <a:r>
                        <a:rPr lang="zh-CN" altLang="en-US" sz="1400" dirty="0">
                          <a:latin typeface="+mn-ea"/>
                          <a:ea typeface="+mn-ea"/>
                        </a:rPr>
                        <a:t>数据同步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ETL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（</a:t>
                      </a:r>
                      <a:r>
                        <a:rPr lang="en-US" altLang="zh-CN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Kettle</a:t>
                      </a:r>
                      <a:r>
                        <a:rPr lang="zh-CN" altLang="en-US" sz="1400" kern="1200" dirty="0">
                          <a:solidFill>
                            <a:schemeClr val="dk1"/>
                          </a:solidFill>
                          <a:latin typeface="+mn-ea"/>
                          <a:ea typeface="+mn-ea"/>
                          <a:cs typeface="+mn-cs"/>
                        </a:rPr>
                        <a:t>）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05404">
                <a:tc>
                  <a:txBody>
                    <a:bodyPr/>
                    <a:lstStyle/>
                    <a:p>
                      <a:endParaRPr lang="zh-CN" altLang="en-US" sz="1400" dirty="0">
                        <a:latin typeface="+mn-ea"/>
                        <a:ea typeface="+mn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4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endParaRPr lang="zh-CN" altLang="en-US" sz="1200" kern="1200" dirty="0">
                        <a:solidFill>
                          <a:schemeClr val="dk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  <p:custDataLst>
      <p:tags r:id="rId1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文本框 24"/>
          <p:cNvSpPr txBox="1"/>
          <p:nvPr/>
        </p:nvSpPr>
        <p:spPr>
          <a:xfrm>
            <a:off x="269239" y="376555"/>
            <a:ext cx="735407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跨工厂</a:t>
            </a:r>
            <a:r>
              <a:rPr lang="en-US" altLang="zh-CN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 – MES</a:t>
            </a:r>
            <a:r>
              <a:rPr lang="zh-CN" altLang="en-US" sz="2800" b="1" dirty="0">
                <a:solidFill>
                  <a:srgbClr val="004EA2"/>
                </a:solidFill>
                <a:latin typeface="Roboto" panose="02000000000000000000" pitchFamily="2" charset="0"/>
                <a:ea typeface="Noto Sans S Chinese Bold" panose="020B0800000000000000" pitchFamily="34" charset="-122"/>
              </a:rPr>
              <a:t>数据集成方案</a:t>
            </a:r>
          </a:p>
        </p:txBody>
      </p:sp>
      <p:sp>
        <p:nvSpPr>
          <p:cNvPr id="2" name="矩形: 圆角 1"/>
          <p:cNvSpPr/>
          <p:nvPr/>
        </p:nvSpPr>
        <p:spPr>
          <a:xfrm>
            <a:off x="5746121" y="4014988"/>
            <a:ext cx="1753038" cy="5232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Fab2 MES</a:t>
            </a:r>
            <a:endParaRPr lang="zh-CN" altLang="en-US" dirty="0"/>
          </a:p>
        </p:txBody>
      </p:sp>
      <p:sp>
        <p:nvSpPr>
          <p:cNvPr id="3" name="圆柱体 2"/>
          <p:cNvSpPr/>
          <p:nvPr/>
        </p:nvSpPr>
        <p:spPr>
          <a:xfrm rot="16200000">
            <a:off x="5340366" y="2827779"/>
            <a:ext cx="467710" cy="4014104"/>
          </a:xfrm>
          <a:prstGeom prst="can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vert="eaVert" rtlCol="0" anchor="ctr"/>
          <a:lstStyle/>
          <a:p>
            <a:pPr algn="ctr"/>
            <a:r>
              <a:rPr lang="en-US" altLang="zh-CN" sz="1400" b="1" dirty="0"/>
              <a:t>Event Bus</a:t>
            </a:r>
            <a:r>
              <a:rPr lang="zh-CN" altLang="en-US" sz="1400" b="1" dirty="0"/>
              <a:t>（</a:t>
            </a:r>
            <a:r>
              <a:rPr lang="en-US" altLang="zh-CN" sz="1400" b="1" dirty="0"/>
              <a:t>Pub/Sub</a:t>
            </a:r>
            <a:r>
              <a:rPr lang="zh-CN" altLang="en-US" sz="1400" b="1" dirty="0"/>
              <a:t>）</a:t>
            </a:r>
          </a:p>
        </p:txBody>
      </p:sp>
      <p:sp>
        <p:nvSpPr>
          <p:cNvPr id="5" name="流程图: 磁盘 4"/>
          <p:cNvSpPr/>
          <p:nvPr/>
        </p:nvSpPr>
        <p:spPr>
          <a:xfrm>
            <a:off x="3798674" y="5449427"/>
            <a:ext cx="936515" cy="53602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MES DB</a:t>
            </a:r>
            <a:endParaRPr lang="zh-CN" altLang="en-US" sz="1400" dirty="0"/>
          </a:p>
        </p:txBody>
      </p:sp>
      <p:sp>
        <p:nvSpPr>
          <p:cNvPr id="6" name="流程图: 磁盘 5"/>
          <p:cNvSpPr/>
          <p:nvPr/>
        </p:nvSpPr>
        <p:spPr>
          <a:xfrm>
            <a:off x="5105963" y="5465736"/>
            <a:ext cx="936515" cy="53602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RTD DB</a:t>
            </a:r>
            <a:endParaRPr lang="zh-CN" altLang="en-US" sz="1400" dirty="0"/>
          </a:p>
        </p:txBody>
      </p:sp>
      <p:sp>
        <p:nvSpPr>
          <p:cNvPr id="7" name="文本框 6"/>
          <p:cNvSpPr txBox="1"/>
          <p:nvPr/>
        </p:nvSpPr>
        <p:spPr>
          <a:xfrm>
            <a:off x="269239" y="1070263"/>
            <a:ext cx="7744899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1</a:t>
            </a:r>
            <a:r>
              <a:rPr lang="zh-CN" altLang="en-US" sz="1400" dirty="0"/>
              <a:t>、可以实时建立</a:t>
            </a:r>
            <a:r>
              <a:rPr lang="en-US" altLang="zh-CN" sz="1400" dirty="0"/>
              <a:t>MES DB</a:t>
            </a:r>
            <a:r>
              <a:rPr lang="zh-CN" altLang="en-US" sz="1400" dirty="0"/>
              <a:t>，</a:t>
            </a:r>
            <a:r>
              <a:rPr lang="en-US" altLang="zh-CN" sz="1400" dirty="0"/>
              <a:t>RTD/RTS</a:t>
            </a:r>
            <a:r>
              <a:rPr lang="zh-CN" altLang="en-US" sz="1400" dirty="0"/>
              <a:t>等其它系统所需的数据</a:t>
            </a:r>
            <a:endParaRPr lang="en-US" altLang="zh-CN" sz="1400" dirty="0"/>
          </a:p>
          <a:p>
            <a:r>
              <a:rPr lang="en-US" altLang="zh-CN" sz="1400" dirty="0"/>
              <a:t>2</a:t>
            </a:r>
            <a:r>
              <a:rPr lang="zh-CN" altLang="en-US" sz="1400" dirty="0"/>
              <a:t>、可以通过</a:t>
            </a:r>
            <a:r>
              <a:rPr lang="en-US" altLang="zh-CN" sz="1400" dirty="0"/>
              <a:t>Kafka</a:t>
            </a:r>
            <a:r>
              <a:rPr lang="zh-CN" altLang="en-US" sz="1400" dirty="0"/>
              <a:t>中间件直接同步</a:t>
            </a:r>
            <a:r>
              <a:rPr lang="en-US" altLang="zh-CN" sz="1400" dirty="0"/>
              <a:t>MES</a:t>
            </a:r>
            <a:r>
              <a:rPr lang="zh-CN" altLang="en-US" sz="1400" dirty="0"/>
              <a:t>数据</a:t>
            </a:r>
            <a:endParaRPr lang="en-US" altLang="zh-CN" sz="1400" dirty="0"/>
          </a:p>
          <a:p>
            <a:r>
              <a:rPr lang="en-US" altLang="zh-CN" sz="1400" dirty="0"/>
              <a:t>3</a:t>
            </a:r>
            <a:r>
              <a:rPr lang="zh-CN" altLang="en-US" sz="1400" dirty="0"/>
              <a:t>、</a:t>
            </a:r>
            <a:r>
              <a:rPr lang="en-US" altLang="zh-CN" sz="1400" dirty="0"/>
              <a:t>Modeler</a:t>
            </a:r>
            <a:r>
              <a:rPr lang="zh-CN" altLang="en-US" sz="1400" dirty="0"/>
              <a:t>支持集团主数据和工厂生产主数据分开；主数据获取和同步使用消息接口；如设备模型</a:t>
            </a:r>
            <a:r>
              <a:rPr lang="en-US" altLang="zh-CN" sz="1400" dirty="0"/>
              <a:t>MES/EAP/CTC/</a:t>
            </a:r>
            <a:r>
              <a:rPr lang="zh-CN" altLang="en-US" sz="1400" dirty="0"/>
              <a:t>自动化测试工具通过消息获取设备建模信息</a:t>
            </a:r>
          </a:p>
        </p:txBody>
      </p:sp>
      <p:sp>
        <p:nvSpPr>
          <p:cNvPr id="4" name="流程图: 磁盘 3"/>
          <p:cNvSpPr/>
          <p:nvPr/>
        </p:nvSpPr>
        <p:spPr>
          <a:xfrm>
            <a:off x="6413252" y="5449427"/>
            <a:ext cx="936515" cy="53602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/>
              <a:t>Big Data</a:t>
            </a:r>
            <a:endParaRPr lang="zh-CN" altLang="en-US" sz="1400" dirty="0"/>
          </a:p>
        </p:txBody>
      </p:sp>
      <p:sp>
        <p:nvSpPr>
          <p:cNvPr id="8" name="矩形: 圆角 7"/>
          <p:cNvSpPr/>
          <p:nvPr/>
        </p:nvSpPr>
        <p:spPr>
          <a:xfrm>
            <a:off x="3567168" y="2839452"/>
            <a:ext cx="3931991" cy="5232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集团主数据</a:t>
            </a:r>
            <a:endParaRPr lang="en-US" altLang="zh-CN" dirty="0"/>
          </a:p>
          <a:p>
            <a:pPr algn="ctr"/>
            <a:r>
              <a:rPr lang="en-US" altLang="zh-CN" dirty="0"/>
              <a:t>GMDM</a:t>
            </a:r>
            <a:endParaRPr lang="zh-CN" altLang="en-US" dirty="0"/>
          </a:p>
        </p:txBody>
      </p:sp>
      <p:sp>
        <p:nvSpPr>
          <p:cNvPr id="9" name="矩形: 圆角 8"/>
          <p:cNvSpPr/>
          <p:nvPr/>
        </p:nvSpPr>
        <p:spPr>
          <a:xfrm>
            <a:off x="5746121" y="3429000"/>
            <a:ext cx="1753038" cy="5232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制造主数据</a:t>
            </a:r>
            <a:r>
              <a:rPr lang="en-US" altLang="zh-CN" dirty="0"/>
              <a:t>Fab2 FDM</a:t>
            </a:r>
            <a:endParaRPr lang="zh-CN" altLang="en-US" dirty="0"/>
          </a:p>
        </p:txBody>
      </p:sp>
      <p:sp>
        <p:nvSpPr>
          <p:cNvPr id="11" name="矩形: 圆角 10"/>
          <p:cNvSpPr/>
          <p:nvPr/>
        </p:nvSpPr>
        <p:spPr>
          <a:xfrm>
            <a:off x="3567168" y="2187152"/>
            <a:ext cx="1698515" cy="52322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ERP</a:t>
            </a:r>
          </a:p>
          <a:p>
            <a:pPr algn="ctr"/>
            <a:r>
              <a:rPr lang="zh-CN" altLang="en-US" dirty="0"/>
              <a:t>接口</a:t>
            </a:r>
            <a:r>
              <a:rPr lang="en-US" altLang="zh-CN" dirty="0"/>
              <a:t>/</a:t>
            </a:r>
            <a:r>
              <a:rPr lang="zh-CN" altLang="en-US" dirty="0"/>
              <a:t>中间表</a:t>
            </a:r>
          </a:p>
        </p:txBody>
      </p:sp>
      <p:sp>
        <p:nvSpPr>
          <p:cNvPr id="12" name="矩形: 圆角 11"/>
          <p:cNvSpPr/>
          <p:nvPr/>
        </p:nvSpPr>
        <p:spPr>
          <a:xfrm>
            <a:off x="5746121" y="2159398"/>
            <a:ext cx="1753038" cy="52322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OA</a:t>
            </a:r>
          </a:p>
          <a:p>
            <a:pPr algn="ctr"/>
            <a:r>
              <a:rPr lang="zh-CN" altLang="en-US" dirty="0"/>
              <a:t>接口</a:t>
            </a:r>
          </a:p>
        </p:txBody>
      </p:sp>
      <p:sp>
        <p:nvSpPr>
          <p:cNvPr id="13" name="矩形: 圆角 12"/>
          <p:cNvSpPr/>
          <p:nvPr/>
        </p:nvSpPr>
        <p:spPr>
          <a:xfrm>
            <a:off x="8434552" y="4014988"/>
            <a:ext cx="1753038" cy="52322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Fabless EMES</a:t>
            </a:r>
            <a:endParaRPr lang="zh-CN" altLang="en-US" dirty="0"/>
          </a:p>
        </p:txBody>
      </p:sp>
      <p:sp>
        <p:nvSpPr>
          <p:cNvPr id="14" name="矩形: 圆角 13"/>
          <p:cNvSpPr/>
          <p:nvPr/>
        </p:nvSpPr>
        <p:spPr>
          <a:xfrm>
            <a:off x="469915" y="4014988"/>
            <a:ext cx="1753038" cy="523220"/>
          </a:xfrm>
          <a:prstGeom prst="roundRect">
            <a:avLst/>
          </a:prstGeom>
          <a:solidFill>
            <a:schemeClr val="bg1">
              <a:lumMod val="75000"/>
            </a:schemeClr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跨工厂</a:t>
            </a:r>
          </a:p>
        </p:txBody>
      </p:sp>
      <p:sp>
        <p:nvSpPr>
          <p:cNvPr id="15" name="矩形: 圆角 14"/>
          <p:cNvSpPr/>
          <p:nvPr/>
        </p:nvSpPr>
        <p:spPr>
          <a:xfrm>
            <a:off x="3567168" y="4014988"/>
            <a:ext cx="1753038" cy="5232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Fab1 MES</a:t>
            </a:r>
            <a:endParaRPr lang="zh-CN" altLang="en-US" dirty="0"/>
          </a:p>
        </p:txBody>
      </p:sp>
      <p:sp>
        <p:nvSpPr>
          <p:cNvPr id="16" name="矩形: 圆角 15"/>
          <p:cNvSpPr/>
          <p:nvPr/>
        </p:nvSpPr>
        <p:spPr>
          <a:xfrm>
            <a:off x="3567168" y="3429000"/>
            <a:ext cx="1753038" cy="5232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制造主数据</a:t>
            </a:r>
            <a:r>
              <a:rPr lang="en-US" altLang="zh-CN" dirty="0"/>
              <a:t>Fab1 FDM</a:t>
            </a:r>
            <a:endParaRPr lang="zh-CN" altLang="en-US" dirty="0"/>
          </a:p>
        </p:txBody>
      </p:sp>
      <p:sp>
        <p:nvSpPr>
          <p:cNvPr id="17" name="流程图: 磁盘 16"/>
          <p:cNvSpPr/>
          <p:nvPr/>
        </p:nvSpPr>
        <p:spPr>
          <a:xfrm>
            <a:off x="2386142" y="5449427"/>
            <a:ext cx="936515" cy="53602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中间表</a:t>
            </a:r>
          </a:p>
        </p:txBody>
      </p:sp>
      <p:sp>
        <p:nvSpPr>
          <p:cNvPr id="18" name="流程图: 磁盘 17"/>
          <p:cNvSpPr/>
          <p:nvPr/>
        </p:nvSpPr>
        <p:spPr>
          <a:xfrm>
            <a:off x="7825784" y="5449427"/>
            <a:ext cx="936515" cy="536028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400" dirty="0"/>
              <a:t>中间表</a:t>
            </a:r>
          </a:p>
        </p:txBody>
      </p:sp>
      <p:cxnSp>
        <p:nvCxnSpPr>
          <p:cNvPr id="20" name="连接符: 肘形 19"/>
          <p:cNvCxnSpPr>
            <a:stCxn id="3" idx="3"/>
            <a:endCxn id="18" idx="2"/>
          </p:cNvCxnSpPr>
          <p:nvPr/>
        </p:nvCxnSpPr>
        <p:spPr>
          <a:xfrm>
            <a:off x="7581273" y="4834831"/>
            <a:ext cx="244511" cy="882610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连接符: 肘形 21"/>
          <p:cNvCxnSpPr>
            <a:stCxn id="18" idx="4"/>
            <a:endCxn id="13" idx="2"/>
          </p:cNvCxnSpPr>
          <p:nvPr/>
        </p:nvCxnSpPr>
        <p:spPr>
          <a:xfrm flipV="1">
            <a:off x="8762299" y="4538208"/>
            <a:ext cx="548772" cy="117923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连接符: 肘形 23"/>
          <p:cNvCxnSpPr>
            <a:stCxn id="3" idx="3"/>
            <a:endCxn id="13" idx="1"/>
          </p:cNvCxnSpPr>
          <p:nvPr/>
        </p:nvCxnSpPr>
        <p:spPr>
          <a:xfrm flipV="1">
            <a:off x="7581273" y="4276598"/>
            <a:ext cx="853279" cy="558233"/>
          </a:xfrm>
          <a:prstGeom prst="bentConnector3">
            <a:avLst>
              <a:gd name="adj1" fmla="val 13048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连接符: 肘形 27"/>
          <p:cNvCxnSpPr>
            <a:stCxn id="3" idx="1"/>
            <a:endCxn id="17" idx="4"/>
          </p:cNvCxnSpPr>
          <p:nvPr/>
        </p:nvCxnSpPr>
        <p:spPr>
          <a:xfrm rot="10800000" flipV="1">
            <a:off x="3322657" y="4834831"/>
            <a:ext cx="244512" cy="882610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连接符: 肘形 29"/>
          <p:cNvCxnSpPr>
            <a:stCxn id="17" idx="2"/>
            <a:endCxn id="14" idx="2"/>
          </p:cNvCxnSpPr>
          <p:nvPr/>
        </p:nvCxnSpPr>
        <p:spPr>
          <a:xfrm rot="10800000">
            <a:off x="1346434" y="4538209"/>
            <a:ext cx="1039708" cy="1179233"/>
          </a:xfrm>
          <a:prstGeom prst="bentConnector2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连接符: 肘形 31"/>
          <p:cNvCxnSpPr>
            <a:stCxn id="3" idx="2"/>
            <a:endCxn id="5" idx="1"/>
          </p:cNvCxnSpPr>
          <p:nvPr/>
        </p:nvCxnSpPr>
        <p:spPr>
          <a:xfrm rot="5400000">
            <a:off x="4730207" y="4605412"/>
            <a:ext cx="380741" cy="1307289"/>
          </a:xfrm>
          <a:prstGeom prst="bentConnector5">
            <a:avLst>
              <a:gd name="adj1" fmla="val 37957"/>
              <a:gd name="adj2" fmla="val 41035"/>
              <a:gd name="adj3" fmla="val 3995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连接符: 肘形 36"/>
          <p:cNvCxnSpPr>
            <a:stCxn id="3" idx="2"/>
            <a:endCxn id="4" idx="1"/>
          </p:cNvCxnSpPr>
          <p:nvPr/>
        </p:nvCxnSpPr>
        <p:spPr>
          <a:xfrm rot="16200000" flipH="1">
            <a:off x="6037495" y="4605411"/>
            <a:ext cx="380741" cy="1307289"/>
          </a:xfrm>
          <a:prstGeom prst="bentConnector5">
            <a:avLst>
              <a:gd name="adj1" fmla="val 37957"/>
              <a:gd name="adj2" fmla="val 41035"/>
              <a:gd name="adj3" fmla="val 3995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连接符 58"/>
          <p:cNvCxnSpPr>
            <a:stCxn id="3" idx="2"/>
            <a:endCxn id="6" idx="1"/>
          </p:cNvCxnSpPr>
          <p:nvPr/>
        </p:nvCxnSpPr>
        <p:spPr>
          <a:xfrm>
            <a:off x="5574221" y="5068686"/>
            <a:ext cx="0" cy="3970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9648497" y="2159398"/>
            <a:ext cx="4366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+mn-ea"/>
              </a:rPr>
              <a:t>ETL</a:t>
            </a:r>
            <a:endParaRPr lang="zh-CN" altLang="en-US" sz="1200" dirty="0">
              <a:latin typeface="+mn-ea"/>
            </a:endParaRPr>
          </a:p>
        </p:txBody>
      </p:sp>
      <p:sp>
        <p:nvSpPr>
          <p:cNvPr id="19" name="文本框 18"/>
          <p:cNvSpPr txBox="1"/>
          <p:nvPr/>
        </p:nvSpPr>
        <p:spPr>
          <a:xfrm>
            <a:off x="6814172" y="5172427"/>
            <a:ext cx="4366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+mn-ea"/>
              </a:rPr>
              <a:t>ETL</a:t>
            </a:r>
            <a:endParaRPr lang="zh-CN" altLang="en-US" sz="1200" dirty="0">
              <a:latin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261368" y="5198200"/>
            <a:ext cx="37221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+mn-ea"/>
              </a:rPr>
              <a:t>EC</a:t>
            </a:r>
            <a:endParaRPr lang="zh-CN" altLang="en-US" sz="1200" dirty="0">
              <a:latin typeface="+mn-ea"/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5543996" y="5225458"/>
            <a:ext cx="58862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+mn-ea"/>
              </a:rPr>
              <a:t>Kafka</a:t>
            </a:r>
            <a:endParaRPr lang="zh-CN" altLang="en-US" sz="1200" dirty="0">
              <a:latin typeface="+mn-ea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7732264" y="5189571"/>
            <a:ext cx="4366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+mn-ea"/>
              </a:rPr>
              <a:t>ETL</a:t>
            </a:r>
            <a:endParaRPr lang="zh-CN" altLang="en-US" sz="1200" dirty="0">
              <a:latin typeface="+mn-ea"/>
            </a:endParaRPr>
          </a:p>
        </p:txBody>
      </p:sp>
      <p:sp>
        <p:nvSpPr>
          <p:cNvPr id="27" name="文本框 26"/>
          <p:cNvSpPr txBox="1"/>
          <p:nvPr/>
        </p:nvSpPr>
        <p:spPr>
          <a:xfrm>
            <a:off x="2988574" y="5221037"/>
            <a:ext cx="4366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>
                <a:latin typeface="+mn-ea"/>
              </a:rPr>
              <a:t>ETL</a:t>
            </a:r>
            <a:endParaRPr lang="zh-CN" altLang="en-US" sz="1200" dirty="0">
              <a:latin typeface="+mn-ea"/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445135" y="2373630"/>
            <a:ext cx="5568315" cy="1961515"/>
          </a:xfrm>
        </p:spPr>
        <p:txBody>
          <a:bodyPr/>
          <a:lstStyle/>
          <a:p>
            <a:r>
              <a:rPr>
                <a:solidFill>
                  <a:srgbClr val="004EA2"/>
                </a:solidFill>
                <a:latin typeface="Roboto Black" panose="02000000000000000000" charset="0"/>
                <a:cs typeface="Roboto Black" panose="02000000000000000000" charset="0"/>
                <a:sym typeface="+mn-ea"/>
              </a:rPr>
              <a:t>珂阳科技</a:t>
            </a:r>
            <a:br>
              <a:rPr lang="en-US" altLang="zh-CN" dirty="0">
                <a:solidFill>
                  <a:srgbClr val="004EA2"/>
                </a:solidFill>
                <a:latin typeface="Roboto Black" panose="02000000000000000000" charset="0"/>
                <a:ea typeface="Noto Sans S Chinese Bold" panose="020B0800000000000000" pitchFamily="34" charset="-122"/>
                <a:cs typeface="Roboto Black" panose="02000000000000000000" charset="0"/>
                <a:sym typeface="+mn-ea"/>
              </a:rPr>
            </a:br>
            <a:r>
              <a:rPr dirty="0">
                <a:solidFill>
                  <a:srgbClr val="004EA2"/>
                </a:solidFill>
                <a:latin typeface="Roboto Black" panose="02000000000000000000" charset="0"/>
                <a:ea typeface="Noto Sans S Chinese Bold" panose="020B0800000000000000" pitchFamily="34" charset="-122"/>
                <a:cs typeface="Roboto Black" panose="02000000000000000000" charset="0"/>
                <a:sym typeface="+mn-ea"/>
              </a:rPr>
              <a:t>为智能而生</a:t>
            </a:r>
            <a:r>
              <a:rPr>
                <a:solidFill>
                  <a:srgbClr val="004EA2"/>
                </a:solidFill>
                <a:latin typeface="Roboto Black" panose="02000000000000000000" charset="0"/>
                <a:cs typeface="Roboto Black" panose="02000000000000000000" charset="0"/>
                <a:sym typeface="+mn-ea"/>
              </a:rPr>
              <a:t>！</a:t>
            </a:r>
            <a:br>
              <a:rPr>
                <a:solidFill>
                  <a:srgbClr val="004EA2"/>
                </a:solidFill>
                <a:latin typeface="Roboto Black" panose="02000000000000000000" charset="0"/>
                <a:cs typeface="Roboto Black" panose="02000000000000000000" charset="0"/>
                <a:sym typeface="+mn-ea"/>
              </a:rPr>
            </a:br>
            <a:endParaRPr lang="zh-CN" altLang="en-US"/>
          </a:p>
        </p:txBody>
      </p:sp>
      <p:pic>
        <p:nvPicPr>
          <p:cNvPr id="8" name="Picture Placeholder 1" descr="C:\Users\enhui\Desktop\企业VI\will kong\图片\shutterstock_1008152350.jpgshutterstock_1008152350"/>
          <p:cNvPicPr>
            <a:picLocks noGrp="1" noChangeAspect="1"/>
          </p:cNvPicPr>
          <p:nvPr/>
        </p:nvPicPr>
        <p:blipFill>
          <a:blip r:embed="rId4"/>
          <a:srcRect l="27537" t="-2110" r="25912" b="2110"/>
          <a:stretch>
            <a:fillRect/>
          </a:stretch>
        </p:blipFill>
        <p:spPr>
          <a:xfrm flipH="1">
            <a:off x="6865749" y="-150102"/>
            <a:ext cx="5372421" cy="70081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  <p:sp>
        <p:nvSpPr>
          <p:cNvPr id="9" name="Rectangle 10"/>
          <p:cNvSpPr/>
          <p:nvPr/>
        </p:nvSpPr>
        <p:spPr>
          <a:xfrm>
            <a:off x="6865750" y="-13784"/>
            <a:ext cx="5372420" cy="6871784"/>
          </a:xfrm>
          <a:prstGeom prst="rect">
            <a:avLst/>
          </a:prstGeom>
          <a:gradFill>
            <a:gsLst>
              <a:gs pos="34000">
                <a:srgbClr val="014FA3">
                  <a:alpha val="44000"/>
                </a:srgbClr>
              </a:gs>
              <a:gs pos="100000">
                <a:srgbClr val="014FA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en-US" sz="2400" dirty="0">
              <a:solidFill>
                <a:srgbClr val="FFFFFF"/>
              </a:solidFill>
              <a:latin typeface="Montserrat Light" panose="00000400000000000000" charset="0"/>
            </a:endParaRPr>
          </a:p>
        </p:txBody>
      </p:sp>
      <p:cxnSp>
        <p:nvCxnSpPr>
          <p:cNvPr id="10" name="直接连接符 30"/>
          <p:cNvCxnSpPr/>
          <p:nvPr/>
        </p:nvCxnSpPr>
        <p:spPr>
          <a:xfrm>
            <a:off x="9381419" y="3930468"/>
            <a:ext cx="501015" cy="0"/>
          </a:xfrm>
          <a:prstGeom prst="line">
            <a:avLst/>
          </a:prstGeom>
          <a:ln w="63500" cap="rnd">
            <a:solidFill>
              <a:srgbClr val="004EA2"/>
            </a:soli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itle 1"/>
          <p:cNvSpPr>
            <a:spLocks noGrp="1"/>
          </p:cNvSpPr>
          <p:nvPr/>
        </p:nvSpPr>
        <p:spPr>
          <a:xfrm>
            <a:off x="8210301" y="2615451"/>
            <a:ext cx="2910321" cy="780629"/>
          </a:xfrm>
          <a:prstGeom prst="rect">
            <a:avLst/>
          </a:prstGeom>
        </p:spPr>
        <p:txBody>
          <a:bodyPr lIns="90000" tIns="46800" rIns="90000" bIns="46800" anchor="ctr">
            <a:normAutofit fontScale="95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>
                <a:blipFill>
                  <a:blip r:embed="rId5"/>
                  <a:stretch>
                    <a:fillRect/>
                  </a:stretch>
                </a:blip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CN" altLang="en-US" dirty="0">
                <a:blipFill>
                  <a:blip r:embed="rId5"/>
                  <a:stretch>
                    <a:fillRect/>
                  </a:stretch>
                </a:blipFill>
                <a:latin typeface="Noto Sans S Chinese Bold" panose="020B0800000000000000" pitchFamily="34" charset="-122"/>
                <a:ea typeface="Noto Sans S Chinese Bold" panose="020B0800000000000000" pitchFamily="34" charset="-122"/>
                <a:sym typeface="+mn-ea"/>
              </a:rPr>
              <a:t>联系我们</a:t>
            </a:r>
          </a:p>
        </p:txBody>
      </p:sp>
      <p:sp>
        <p:nvSpPr>
          <p:cNvPr id="12" name="文本框 11"/>
          <p:cNvSpPr txBox="1"/>
          <p:nvPr/>
        </p:nvSpPr>
        <p:spPr>
          <a:xfrm>
            <a:off x="8761976" y="3398004"/>
            <a:ext cx="17399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dist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Light" panose="02000000000000000000" charset="0"/>
                <a:ea typeface="OPPOSans M" panose="00020600040101010101" pitchFamily="18" charset="-122"/>
                <a:cs typeface="Roboto Light" panose="02000000000000000000" charset="0"/>
              </a:rPr>
              <a:t>CONTACT</a:t>
            </a:r>
            <a:r>
              <a:rPr kumimoji="0" lang="zh-CN" altLang="en-US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Light" panose="02000000000000000000" charset="0"/>
                <a:ea typeface="OPPOSans M" panose="00020600040101010101" pitchFamily="18" charset="-122"/>
                <a:cs typeface="Roboto Light" panose="02000000000000000000" charset="0"/>
              </a:rPr>
              <a:t> </a:t>
            </a:r>
            <a:r>
              <a:rPr kumimoji="0" lang="en-US" altLang="zh-CN" sz="18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Roboto Light" panose="02000000000000000000" charset="0"/>
                <a:ea typeface="OPPOSans M" panose="00020600040101010101" pitchFamily="18" charset="-122"/>
                <a:cs typeface="Roboto Light" panose="02000000000000000000" charset="0"/>
              </a:rPr>
              <a:t>US</a:t>
            </a:r>
          </a:p>
        </p:txBody>
      </p:sp>
      <p:sp>
        <p:nvSpPr>
          <p:cNvPr id="18" name="饼形 17"/>
          <p:cNvSpPr/>
          <p:nvPr/>
        </p:nvSpPr>
        <p:spPr>
          <a:xfrm rot="16200000">
            <a:off x="3187487" y="806004"/>
            <a:ext cx="252000" cy="5868000"/>
          </a:xfrm>
          <a:prstGeom prst="pie">
            <a:avLst>
              <a:gd name="adj1" fmla="val 5410359"/>
              <a:gd name="adj2" fmla="val 16200000"/>
            </a:avLst>
          </a:prstGeom>
          <a:gradFill>
            <a:gsLst>
              <a:gs pos="0">
                <a:schemeClr val="accent1">
                  <a:lumMod val="5000"/>
                  <a:lumOff val="95000"/>
                  <a:alpha val="0"/>
                </a:schemeClr>
              </a:gs>
              <a:gs pos="100000">
                <a:srgbClr val="BCB9B9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ZGEyMmRlOTk1YTRhYmIwNmEzMGUwYTM3NzhjY2YwNTEifQ=="/>
  <p:tag name="KSO_WPP_MARK_KEY" val="e1bbc265-2e19-4400-9ded-3c38d94c36d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936,&quot;width&quot;:19200}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UNIT_PLACING_PICTURE_USER_VIEWPORT" val="{&quot;height&quot;:3936,&quot;width&quot;:19200}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i"/>
  <p:tag name="KSO_WM_UNIT_INDEX" val="1_1"/>
  <p:tag name="KSO_WM_UNIT_LAYERLEVEL" val="1_1"/>
  <p:tag name="KSO_WM_DIAGRAM_GROUP_CODE" val="m1-1"/>
  <p:tag name="KSO_WM_UNIT_ID" val="diagram20170977_4*m_i*1_1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1_1"/>
  <p:tag name="KSO_WM_UNIT_ID" val="diagram20170977_4*m_h_i*1_1_1"/>
  <p:tag name="KSO_WM_UNIT_LAYERLEVEL" val="1_1_1"/>
  <p:tag name="KSO_WM_DIAGRAM_GROUP_CODE" val="m1-1"/>
  <p:tag name="KSO_WM_UNIT_FILL_FORE_SCHEMECOLOR_INDEX" val="8"/>
  <p:tag name="KSO_WM_UNIT_FILL_TYPE" val="1"/>
  <p:tag name="KSO_WM_UNIT_LINE_FORE_SCHEMECOLOR_INDEX" val="6"/>
  <p:tag name="KSO_WM_UNIT_LINE_FILL_TYPE" val="2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1_2"/>
  <p:tag name="KSO_WM_UNIT_ID" val="diagram20170977_4*m_h_i*1_1_2"/>
  <p:tag name="KSO_WM_UNIT_LAYERLEVEL" val="1_1_1"/>
  <p:tag name="KSO_WM_DIAGRAM_GROUP_CODE" val="m1-1"/>
  <p:tag name="KSO_WM_UNIT_FILL_FORE_SCHEMECOLOR_INDEX" val="6"/>
  <p:tag name="KSO_WM_UNIT_FILL_TYP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1_3"/>
  <p:tag name="KSO_WM_UNIT_ID" val="diagram20170977_4*m_h_i*1_1_3"/>
  <p:tag name="KSO_WM_UNIT_LAYERLEVEL" val="1_1_1"/>
  <p:tag name="KSO_WM_DIAGRAM_GROUP_CODE" val="m1-1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g"/>
  <p:tag name="KSO_WM_UNIT_INDEX" val="1_1_1"/>
  <p:tag name="KSO_WM_UNIT_LAYERLEVEL" val="1_1_1"/>
  <p:tag name="KSO_WM_UNIT_VALUE" val="6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m1-1"/>
  <p:tag name="KSO_WM_UNIT_ID" val="diagram20170977_4*m_h_g*1_1_1"/>
  <p:tag name="KSO_WM_UNIT_RELATE_UNITID" val="diagram20170977_4*m_h_f*1_1_1"/>
  <p:tag name="KSO_WM_UNIT_TEXT_FILL_FORE_SCHEMECOLOR_INDEX" val="14"/>
  <p:tag name="KSO_WM_UNIT_TEXT_FILL_TYPE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a"/>
  <p:tag name="KSO_WM_UNIT_INDEX" val="1_1_1"/>
  <p:tag name="KSO_WM_UNIT_LAYERLEVEL" val="1_1_1"/>
  <p:tag name="KSO_WM_UNIT_VALUE" val="8"/>
  <p:tag name="KSO_WM_UNIT_HIGHLIGHT" val="0"/>
  <p:tag name="KSO_WM_UNIT_COMPATIBLE" val="0"/>
  <p:tag name="KSO_WM_UNIT_CLEAR" val="0"/>
  <p:tag name="KSO_WM_UNIT_PRESET_TEXT_INDEX" val="3"/>
  <p:tag name="KSO_WM_UNIT_PRESET_TEXT_LEN" val="12"/>
  <p:tag name="KSO_WM_DIAGRAM_GROUP_CODE" val="m1-1"/>
  <p:tag name="KSO_WM_UNIT_ID" val="diagram20170977_4*m_h_a*1_1_1"/>
  <p:tag name="KSO_WM_UNIT_TEXT_FILL_FORE_SCHEMECOLOR_INDEX" val="13"/>
  <p:tag name="KSO_WM_UNIT_TEXT_FILL_TYPE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f"/>
  <p:tag name="KSO_WM_UNIT_INDEX" val="1_1_1"/>
  <p:tag name="KSO_WM_UNIT_LAYERLEVEL" val="1_1_1"/>
  <p:tag name="KSO_WM_UNIT_VALUE" val="24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m1-1"/>
  <p:tag name="KSO_WM_UNIT_ID" val="diagram20170977_4*m_h_f*1_1_1"/>
  <p:tag name="KSO_WM_UNIT_TEXT_FILL_FORE_SCHEMECOLOR_INDEX" val="13"/>
  <p:tag name="KSO_WM_UNIT_TEXT_FILL_TYPE" val="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2_1"/>
  <p:tag name="KSO_WM_UNIT_ID" val="diagram20170977_4*m_h_i*1_2_1"/>
  <p:tag name="KSO_WM_UNIT_LAYERLEVEL" val="1_1_1"/>
  <p:tag name="KSO_WM_DIAGRAM_GROUP_CODE" val="m1-1"/>
  <p:tag name="KSO_WM_UNIT_FILL_FORE_SCHEMECOLOR_INDEX" val="8"/>
  <p:tag name="KSO_WM_UNIT_FILL_TYPE" val="1"/>
  <p:tag name="KSO_WM_UNIT_LINE_FORE_SCHEMECOLOR_INDEX" val="6"/>
  <p:tag name="KSO_WM_UNIT_LINE_FILL_TYPE" val="2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2_2"/>
  <p:tag name="KSO_WM_UNIT_ID" val="diagram20170977_4*m_h_i*1_2_2"/>
  <p:tag name="KSO_WM_UNIT_LAYERLEVEL" val="1_1_1"/>
  <p:tag name="KSO_WM_DIAGRAM_GROUP_CODE" val="m1-1"/>
  <p:tag name="KSO_WM_UNIT_FILL_FORE_SCHEMECOLOR_INDEX" val="6"/>
  <p:tag name="KSO_WM_UNIT_FILL_TYPE" val="1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2_3"/>
  <p:tag name="KSO_WM_UNIT_ID" val="diagram20170977_4*m_h_i*1_2_3"/>
  <p:tag name="KSO_WM_UNIT_LAYERLEVEL" val="1_1_1"/>
  <p:tag name="KSO_WM_DIAGRAM_GROUP_CODE" val="m1-1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g"/>
  <p:tag name="KSO_WM_UNIT_INDEX" val="1_2_1"/>
  <p:tag name="KSO_WM_UNIT_LAYERLEVEL" val="1_1_1"/>
  <p:tag name="KSO_WM_UNIT_VALUE" val="6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m1-1"/>
  <p:tag name="KSO_WM_UNIT_ID" val="diagram20170977_4*m_h_g*1_2_1"/>
  <p:tag name="KSO_WM_UNIT_RELATE_UNITID" val="diagram20170977_4*m_h_f*1_2_1"/>
  <p:tag name="KSO_WM_UNIT_TEXT_FILL_FORE_SCHEMECOLOR_INDEX" val="14"/>
  <p:tag name="KSO_WM_UNIT_TEXT_FILL_TYPE" val="1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a"/>
  <p:tag name="KSO_WM_UNIT_INDEX" val="1_2_1"/>
  <p:tag name="KSO_WM_UNIT_LAYERLEVEL" val="1_1_1"/>
  <p:tag name="KSO_WM_UNIT_VALUE" val="8"/>
  <p:tag name="KSO_WM_UNIT_HIGHLIGHT" val="0"/>
  <p:tag name="KSO_WM_UNIT_COMPATIBLE" val="0"/>
  <p:tag name="KSO_WM_UNIT_CLEAR" val="0"/>
  <p:tag name="KSO_WM_UNIT_PRESET_TEXT_INDEX" val="3"/>
  <p:tag name="KSO_WM_UNIT_PRESET_TEXT_LEN" val="12"/>
  <p:tag name="KSO_WM_DIAGRAM_GROUP_CODE" val="m1-1"/>
  <p:tag name="KSO_WM_UNIT_ID" val="diagram20170977_4*m_h_a*1_2_1"/>
  <p:tag name="KSO_WM_UNIT_TEXT_FILL_FORE_SCHEMECOLOR_INDEX" val="13"/>
  <p:tag name="KSO_WM_UNIT_TEXT_FILL_TYPE" val="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f"/>
  <p:tag name="KSO_WM_UNIT_INDEX" val="1_2_1"/>
  <p:tag name="KSO_WM_UNIT_LAYERLEVEL" val="1_1_1"/>
  <p:tag name="KSO_WM_UNIT_VALUE" val="24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m1-1"/>
  <p:tag name="KSO_WM_UNIT_ID" val="diagram20170977_4*m_h_f*1_2_1"/>
  <p:tag name="KSO_WM_UNIT_TEXT_FILL_FORE_SCHEMECOLOR_INDEX" val="13"/>
  <p:tag name="KSO_WM_UNIT_TEXT_FILL_TYPE" val="1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5_1"/>
  <p:tag name="KSO_WM_UNIT_ID" val="diagram20170977_4*m_h_i*1_5_1"/>
  <p:tag name="KSO_WM_UNIT_LAYERLEVEL" val="1_1_1"/>
  <p:tag name="KSO_WM_DIAGRAM_GROUP_CODE" val="m1-1"/>
  <p:tag name="KSO_WM_UNIT_FILL_FORE_SCHEMECOLOR_INDEX" val="8"/>
  <p:tag name="KSO_WM_UNIT_FILL_TYPE" val="1"/>
  <p:tag name="KSO_WM_UNIT_LINE_FORE_SCHEMECOLOR_INDEX" val="6"/>
  <p:tag name="KSO_WM_UNIT_LINE_FILL_TYPE" val="2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5_2"/>
  <p:tag name="KSO_WM_UNIT_ID" val="diagram20170977_4*m_h_i*1_5_2"/>
  <p:tag name="KSO_WM_UNIT_LAYERLEVEL" val="1_1_1"/>
  <p:tag name="KSO_WM_DIAGRAM_GROUP_CODE" val="m1-1"/>
  <p:tag name="KSO_WM_UNIT_FILL_FORE_SCHEMECOLOR_INDEX" val="6"/>
  <p:tag name="KSO_WM_UNIT_FILL_TYPE" val="1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5_3"/>
  <p:tag name="KSO_WM_UNIT_ID" val="diagram20170977_4*m_h_i*1_5_3"/>
  <p:tag name="KSO_WM_UNIT_LAYERLEVEL" val="1_1_1"/>
  <p:tag name="KSO_WM_DIAGRAM_GROUP_CODE" val="m1-1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g"/>
  <p:tag name="KSO_WM_UNIT_INDEX" val="1_5_1"/>
  <p:tag name="KSO_WM_UNIT_LAYERLEVEL" val="1_1_1"/>
  <p:tag name="KSO_WM_UNIT_VALUE" val="6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m1-1"/>
  <p:tag name="KSO_WM_UNIT_ID" val="diagram20170977_4*m_h_g*1_5_1"/>
  <p:tag name="KSO_WM_UNIT_RELATE_UNITID" val="diagram20170977_4*m_h_f*1_5_1"/>
  <p:tag name="KSO_WM_UNIT_TEXT_FILL_FORE_SCHEMECOLOR_INDEX" val="14"/>
  <p:tag name="KSO_WM_UNIT_TEXT_FILL_TYPE" val="1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a"/>
  <p:tag name="KSO_WM_UNIT_INDEX" val="1_5_1"/>
  <p:tag name="KSO_WM_UNIT_LAYERLEVEL" val="1_1_1"/>
  <p:tag name="KSO_WM_UNIT_VALUE" val="8"/>
  <p:tag name="KSO_WM_UNIT_HIGHLIGHT" val="0"/>
  <p:tag name="KSO_WM_UNIT_COMPATIBLE" val="0"/>
  <p:tag name="KSO_WM_UNIT_CLEAR" val="0"/>
  <p:tag name="KSO_WM_UNIT_PRESET_TEXT_INDEX" val="3"/>
  <p:tag name="KSO_WM_UNIT_PRESET_TEXT_LEN" val="12"/>
  <p:tag name="KSO_WM_DIAGRAM_GROUP_CODE" val="m1-1"/>
  <p:tag name="KSO_WM_UNIT_ID" val="diagram20170977_4*m_h_a*1_5_1"/>
  <p:tag name="KSO_WM_UNIT_TEXT_FILL_FORE_SCHEMECOLOR_INDEX" val="13"/>
  <p:tag name="KSO_WM_UNIT_TEXT_FILL_TYPE" val="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f"/>
  <p:tag name="KSO_WM_UNIT_INDEX" val="1_5_1"/>
  <p:tag name="KSO_WM_UNIT_LAYERLEVEL" val="1_1_1"/>
  <p:tag name="KSO_WM_UNIT_VALUE" val="24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m1-1"/>
  <p:tag name="KSO_WM_UNIT_ID" val="diagram20170977_4*m_h_f*1_5_1"/>
  <p:tag name="KSO_WM_UNIT_TEXT_FILL_FORE_SCHEMECOLOR_INDEX" val="13"/>
  <p:tag name="KSO_WM_UNIT_TEXT_FILL_TYPE" val="1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4_1"/>
  <p:tag name="KSO_WM_UNIT_ID" val="diagram20170977_4*m_h_i*1_4_1"/>
  <p:tag name="KSO_WM_UNIT_LAYERLEVEL" val="1_1_1"/>
  <p:tag name="KSO_WM_DIAGRAM_GROUP_CODE" val="m1-1"/>
  <p:tag name="KSO_WM_UNIT_FILL_FORE_SCHEMECOLOR_INDEX" val="8"/>
  <p:tag name="KSO_WM_UNIT_FILL_TYPE" val="1"/>
  <p:tag name="KSO_WM_UNIT_LINE_FORE_SCHEMECOLOR_INDEX" val="6"/>
  <p:tag name="KSO_WM_UNIT_LINE_FILL_TYPE" val="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4_2"/>
  <p:tag name="KSO_WM_UNIT_ID" val="diagram20170977_4*m_h_i*1_4_2"/>
  <p:tag name="KSO_WM_UNIT_LAYERLEVEL" val="1_1_1"/>
  <p:tag name="KSO_WM_DIAGRAM_GROUP_CODE" val="m1-1"/>
  <p:tag name="KSO_WM_UNIT_FILL_FORE_SCHEMECOLOR_INDEX" val="6"/>
  <p:tag name="KSO_WM_UNIT_FILL_TYPE" val="1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g"/>
  <p:tag name="KSO_WM_UNIT_INDEX" val="1_4_1"/>
  <p:tag name="KSO_WM_UNIT_LAYERLEVEL" val="1_1_1"/>
  <p:tag name="KSO_WM_UNIT_VALUE" val="6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m1-1"/>
  <p:tag name="KSO_WM_UNIT_ID" val="diagram20170977_4*m_h_g*1_4_1"/>
  <p:tag name="KSO_WM_UNIT_RELATE_UNITID" val="diagram20170977_4*m_h_f*1_4_1"/>
  <p:tag name="KSO_WM_UNIT_TEXT_FILL_FORE_SCHEMECOLOR_INDEX" val="14"/>
  <p:tag name="KSO_WM_UNIT_TEXT_FILL_TYPE" val="1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4_3"/>
  <p:tag name="KSO_WM_UNIT_ID" val="diagram20170977_4*m_h_i*1_4_3"/>
  <p:tag name="KSO_WM_UNIT_LAYERLEVEL" val="1_1_1"/>
  <p:tag name="KSO_WM_DIAGRAM_GROUP_CODE" val="m1-1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a"/>
  <p:tag name="KSO_WM_UNIT_INDEX" val="1_4_1"/>
  <p:tag name="KSO_WM_UNIT_LAYERLEVEL" val="1_1_1"/>
  <p:tag name="KSO_WM_UNIT_VALUE" val="8"/>
  <p:tag name="KSO_WM_UNIT_HIGHLIGHT" val="0"/>
  <p:tag name="KSO_WM_UNIT_COMPATIBLE" val="0"/>
  <p:tag name="KSO_WM_UNIT_CLEAR" val="0"/>
  <p:tag name="KSO_WM_UNIT_PRESET_TEXT_INDEX" val="3"/>
  <p:tag name="KSO_WM_UNIT_PRESET_TEXT_LEN" val="12"/>
  <p:tag name="KSO_WM_DIAGRAM_GROUP_CODE" val="m1-1"/>
  <p:tag name="KSO_WM_UNIT_ID" val="diagram20170977_4*m_h_a*1_4_1"/>
  <p:tag name="KSO_WM_UNIT_TEXT_FILL_FORE_SCHEMECOLOR_INDEX" val="13"/>
  <p:tag name="KSO_WM_UNIT_TEXT_FILL_TYPE" val="1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f"/>
  <p:tag name="KSO_WM_UNIT_INDEX" val="1_4_1"/>
  <p:tag name="KSO_WM_UNIT_LAYERLEVEL" val="1_1_1"/>
  <p:tag name="KSO_WM_UNIT_VALUE" val="24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m1-1"/>
  <p:tag name="KSO_WM_UNIT_ID" val="diagram20170977_4*m_h_f*1_4_1"/>
  <p:tag name="KSO_WM_UNIT_TEXT_FILL_FORE_SCHEMECOLOR_INDEX" val="13"/>
  <p:tag name="KSO_WM_UNIT_TEXT_FILL_TYPE" val="1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3_1"/>
  <p:tag name="KSO_WM_UNIT_ID" val="diagram20170977_4*m_h_i*1_3_1"/>
  <p:tag name="KSO_WM_UNIT_LAYERLEVEL" val="1_1_1"/>
  <p:tag name="KSO_WM_DIAGRAM_GROUP_CODE" val="m1-1"/>
  <p:tag name="KSO_WM_UNIT_FILL_FORE_SCHEMECOLOR_INDEX" val="8"/>
  <p:tag name="KSO_WM_UNIT_FILL_TYPE" val="1"/>
  <p:tag name="KSO_WM_UNIT_LINE_FORE_SCHEMECOLOR_INDEX" val="6"/>
  <p:tag name="KSO_WM_UNIT_LINE_FILL_TYPE" val="2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3_2"/>
  <p:tag name="KSO_WM_UNIT_ID" val="diagram20170977_4*m_h_i*1_3_2"/>
  <p:tag name="KSO_WM_UNIT_LAYERLEVEL" val="1_1_1"/>
  <p:tag name="KSO_WM_DIAGRAM_GROUP_CODE" val="m1-1"/>
  <p:tag name="KSO_WM_UNIT_FILL_FORE_SCHEMECOLOR_INDEX" val="6"/>
  <p:tag name="KSO_WM_UNIT_FILL_TYP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3_3"/>
  <p:tag name="KSO_WM_UNIT_ID" val="diagram20170977_4*m_h_i*1_3_3"/>
  <p:tag name="KSO_WM_UNIT_LAYERLEVEL" val="1_1_1"/>
  <p:tag name="KSO_WM_DIAGRAM_GROUP_CODE" val="m1-1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g"/>
  <p:tag name="KSO_WM_UNIT_INDEX" val="1_3_1"/>
  <p:tag name="KSO_WM_UNIT_LAYERLEVEL" val="1_1_1"/>
  <p:tag name="KSO_WM_UNIT_VALUE" val="6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m1-1"/>
  <p:tag name="KSO_WM_UNIT_ID" val="diagram20170977_4*m_h_g*1_3_1"/>
  <p:tag name="KSO_WM_UNIT_RELATE_UNITID" val="diagram20170977_4*m_h_f*1_3_1"/>
  <p:tag name="KSO_WM_UNIT_TEXT_FILL_FORE_SCHEMECOLOR_INDEX" val="14"/>
  <p:tag name="KSO_WM_UNIT_TEXT_FILL_TYPE" val="1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a"/>
  <p:tag name="KSO_WM_UNIT_INDEX" val="1_3_1"/>
  <p:tag name="KSO_WM_UNIT_LAYERLEVEL" val="1_1_1"/>
  <p:tag name="KSO_WM_UNIT_VALUE" val="8"/>
  <p:tag name="KSO_WM_UNIT_HIGHLIGHT" val="0"/>
  <p:tag name="KSO_WM_UNIT_COMPATIBLE" val="0"/>
  <p:tag name="KSO_WM_UNIT_CLEAR" val="0"/>
  <p:tag name="KSO_WM_UNIT_PRESET_TEXT_INDEX" val="3"/>
  <p:tag name="KSO_WM_UNIT_PRESET_TEXT_LEN" val="12"/>
  <p:tag name="KSO_WM_DIAGRAM_GROUP_CODE" val="m1-1"/>
  <p:tag name="KSO_WM_UNIT_ID" val="diagram20170977_4*m_h_a*1_3_1"/>
  <p:tag name="KSO_WM_UNIT_TEXT_FILL_FORE_SCHEMECOLOR_INDEX" val="13"/>
  <p:tag name="KSO_WM_UNIT_TEXT_FILL_TYPE" val="1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f"/>
  <p:tag name="KSO_WM_UNIT_INDEX" val="1_3_1"/>
  <p:tag name="KSO_WM_UNIT_LAYERLEVEL" val="1_1_1"/>
  <p:tag name="KSO_WM_UNIT_VALUE" val="24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m1-1"/>
  <p:tag name="KSO_WM_UNIT_ID" val="diagram20170977_4*m_h_f*1_3_1"/>
  <p:tag name="KSO_WM_UNIT_TEXT_FILL_FORE_SCHEMECOLOR_INDEX" val="13"/>
  <p:tag name="KSO_WM_UNIT_TEXT_FILL_TYPE" val="1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i"/>
  <p:tag name="KSO_WM_UNIT_INDEX" val="1_1"/>
  <p:tag name="KSO_WM_UNIT_LAYERLEVEL" val="1_1"/>
  <p:tag name="KSO_WM_DIAGRAM_GROUP_CODE" val="m1-1"/>
  <p:tag name="KSO_WM_UNIT_ID" val="diagram20170977_4*m_i*1_1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1_1"/>
  <p:tag name="KSO_WM_UNIT_ID" val="diagram20170977_4*m_h_i*1_1_1"/>
  <p:tag name="KSO_WM_UNIT_LAYERLEVEL" val="1_1_1"/>
  <p:tag name="KSO_WM_DIAGRAM_GROUP_CODE" val="m1-1"/>
  <p:tag name="KSO_WM_UNIT_FILL_FORE_SCHEMECOLOR_INDEX" val="8"/>
  <p:tag name="KSO_WM_UNIT_FILL_TYPE" val="1"/>
  <p:tag name="KSO_WM_UNIT_LINE_FORE_SCHEMECOLOR_INDEX" val="6"/>
  <p:tag name="KSO_WM_UNIT_LINE_FILL_TYPE" val="2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1_2"/>
  <p:tag name="KSO_WM_UNIT_ID" val="diagram20170977_4*m_h_i*1_1_2"/>
  <p:tag name="KSO_WM_UNIT_LAYERLEVEL" val="1_1_1"/>
  <p:tag name="KSO_WM_DIAGRAM_GROUP_CODE" val="m1-1"/>
  <p:tag name="KSO_WM_UNIT_FILL_FORE_SCHEMECOLOR_INDEX" val="6"/>
  <p:tag name="KSO_WM_UNIT_FILL_TYP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1_3"/>
  <p:tag name="KSO_WM_UNIT_ID" val="diagram20170977_4*m_h_i*1_1_3"/>
  <p:tag name="KSO_WM_UNIT_LAYERLEVEL" val="1_1_1"/>
  <p:tag name="KSO_WM_DIAGRAM_GROUP_CODE" val="m1-1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g"/>
  <p:tag name="KSO_WM_UNIT_INDEX" val="1_1_1"/>
  <p:tag name="KSO_WM_UNIT_LAYERLEVEL" val="1_1_1"/>
  <p:tag name="KSO_WM_UNIT_VALUE" val="6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m1-1"/>
  <p:tag name="KSO_WM_UNIT_ID" val="diagram20170977_4*m_h_g*1_1_1"/>
  <p:tag name="KSO_WM_UNIT_RELATE_UNITID" val="diagram20170977_4*m_h_f*1_1_1"/>
  <p:tag name="KSO_WM_UNIT_TEXT_FILL_FORE_SCHEMECOLOR_INDEX" val="14"/>
  <p:tag name="KSO_WM_UNIT_TEXT_FILL_TYPE" val="1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a"/>
  <p:tag name="KSO_WM_UNIT_INDEX" val="1_1_1"/>
  <p:tag name="KSO_WM_UNIT_LAYERLEVEL" val="1_1_1"/>
  <p:tag name="KSO_WM_UNIT_VALUE" val="8"/>
  <p:tag name="KSO_WM_UNIT_HIGHLIGHT" val="0"/>
  <p:tag name="KSO_WM_UNIT_COMPATIBLE" val="0"/>
  <p:tag name="KSO_WM_UNIT_CLEAR" val="0"/>
  <p:tag name="KSO_WM_UNIT_PRESET_TEXT_INDEX" val="3"/>
  <p:tag name="KSO_WM_UNIT_PRESET_TEXT_LEN" val="12"/>
  <p:tag name="KSO_WM_DIAGRAM_GROUP_CODE" val="m1-1"/>
  <p:tag name="KSO_WM_UNIT_ID" val="diagram20170977_4*m_h_a*1_1_1"/>
  <p:tag name="KSO_WM_UNIT_TEXT_FILL_FORE_SCHEMECOLOR_INDEX" val="13"/>
  <p:tag name="KSO_WM_UNIT_TEXT_FILL_TYPE" val="1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f"/>
  <p:tag name="KSO_WM_UNIT_INDEX" val="1_1_1"/>
  <p:tag name="KSO_WM_UNIT_LAYERLEVEL" val="1_1_1"/>
  <p:tag name="KSO_WM_UNIT_VALUE" val="24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m1-1"/>
  <p:tag name="KSO_WM_UNIT_ID" val="diagram20170977_4*m_h_f*1_1_1"/>
  <p:tag name="KSO_WM_UNIT_TEXT_FILL_FORE_SCHEMECOLOR_INDEX" val="13"/>
  <p:tag name="KSO_WM_UNIT_TEXT_FILL_TYPE" val="1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2_1"/>
  <p:tag name="KSO_WM_UNIT_ID" val="diagram20170977_4*m_h_i*1_2_1"/>
  <p:tag name="KSO_WM_UNIT_LAYERLEVEL" val="1_1_1"/>
  <p:tag name="KSO_WM_DIAGRAM_GROUP_CODE" val="m1-1"/>
  <p:tag name="KSO_WM_UNIT_FILL_FORE_SCHEMECOLOR_INDEX" val="8"/>
  <p:tag name="KSO_WM_UNIT_FILL_TYPE" val="1"/>
  <p:tag name="KSO_WM_UNIT_LINE_FORE_SCHEMECOLOR_INDEX" val="6"/>
  <p:tag name="KSO_WM_UNIT_LINE_FILL_TYPE" val="2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2_2"/>
  <p:tag name="KSO_WM_UNIT_ID" val="diagram20170977_4*m_h_i*1_2_2"/>
  <p:tag name="KSO_WM_UNIT_LAYERLEVEL" val="1_1_1"/>
  <p:tag name="KSO_WM_DIAGRAM_GROUP_CODE" val="m1-1"/>
  <p:tag name="KSO_WM_UNIT_FILL_FORE_SCHEMECOLOR_INDEX" val="6"/>
  <p:tag name="KSO_WM_UNIT_FILL_TYPE" val="1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2_3"/>
  <p:tag name="KSO_WM_UNIT_ID" val="diagram20170977_4*m_h_i*1_2_3"/>
  <p:tag name="KSO_WM_UNIT_LAYERLEVEL" val="1_1_1"/>
  <p:tag name="KSO_WM_DIAGRAM_GROUP_CODE" val="m1-1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g"/>
  <p:tag name="KSO_WM_UNIT_INDEX" val="1_2_1"/>
  <p:tag name="KSO_WM_UNIT_LAYERLEVEL" val="1_1_1"/>
  <p:tag name="KSO_WM_UNIT_VALUE" val="6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m1-1"/>
  <p:tag name="KSO_WM_UNIT_ID" val="diagram20170977_4*m_h_g*1_2_1"/>
  <p:tag name="KSO_WM_UNIT_RELATE_UNITID" val="diagram20170977_4*m_h_f*1_2_1"/>
  <p:tag name="KSO_WM_UNIT_TEXT_FILL_FORE_SCHEMECOLOR_INDEX" val="14"/>
  <p:tag name="KSO_WM_UNIT_TEXT_FILL_TYPE" val="1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a"/>
  <p:tag name="KSO_WM_UNIT_INDEX" val="1_2_1"/>
  <p:tag name="KSO_WM_UNIT_LAYERLEVEL" val="1_1_1"/>
  <p:tag name="KSO_WM_UNIT_VALUE" val="8"/>
  <p:tag name="KSO_WM_UNIT_HIGHLIGHT" val="0"/>
  <p:tag name="KSO_WM_UNIT_COMPATIBLE" val="0"/>
  <p:tag name="KSO_WM_UNIT_CLEAR" val="0"/>
  <p:tag name="KSO_WM_UNIT_PRESET_TEXT_INDEX" val="3"/>
  <p:tag name="KSO_WM_UNIT_PRESET_TEXT_LEN" val="12"/>
  <p:tag name="KSO_WM_DIAGRAM_GROUP_CODE" val="m1-1"/>
  <p:tag name="KSO_WM_UNIT_ID" val="diagram20170977_4*m_h_a*1_2_1"/>
  <p:tag name="KSO_WM_UNIT_TEXT_FILL_FORE_SCHEMECOLOR_INDEX" val="13"/>
  <p:tag name="KSO_WM_UNIT_TEXT_FILL_TYPE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f"/>
  <p:tag name="KSO_WM_UNIT_INDEX" val="1_2_1"/>
  <p:tag name="KSO_WM_UNIT_LAYERLEVEL" val="1_1_1"/>
  <p:tag name="KSO_WM_UNIT_VALUE" val="24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m1-1"/>
  <p:tag name="KSO_WM_UNIT_ID" val="diagram20170977_4*m_h_f*1_2_1"/>
  <p:tag name="KSO_WM_UNIT_TEXT_FILL_FORE_SCHEMECOLOR_INDEX" val="13"/>
  <p:tag name="KSO_WM_UNIT_TEXT_FILL_TYPE" val="1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5_1"/>
  <p:tag name="KSO_WM_UNIT_ID" val="diagram20170977_4*m_h_i*1_5_1"/>
  <p:tag name="KSO_WM_UNIT_LAYERLEVEL" val="1_1_1"/>
  <p:tag name="KSO_WM_DIAGRAM_GROUP_CODE" val="m1-1"/>
  <p:tag name="KSO_WM_UNIT_FILL_FORE_SCHEMECOLOR_INDEX" val="8"/>
  <p:tag name="KSO_WM_UNIT_FILL_TYPE" val="1"/>
  <p:tag name="KSO_WM_UNIT_LINE_FORE_SCHEMECOLOR_INDEX" val="6"/>
  <p:tag name="KSO_WM_UNIT_LINE_FILL_TYPE" val="2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5_2"/>
  <p:tag name="KSO_WM_UNIT_ID" val="diagram20170977_4*m_h_i*1_5_2"/>
  <p:tag name="KSO_WM_UNIT_LAYERLEVEL" val="1_1_1"/>
  <p:tag name="KSO_WM_DIAGRAM_GROUP_CODE" val="m1-1"/>
  <p:tag name="KSO_WM_UNIT_FILL_FORE_SCHEMECOLOR_INDEX" val="6"/>
  <p:tag name="KSO_WM_UNIT_FILL_TYPE" val="1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5_3"/>
  <p:tag name="KSO_WM_UNIT_ID" val="diagram20170977_4*m_h_i*1_5_3"/>
  <p:tag name="KSO_WM_UNIT_LAYERLEVEL" val="1_1_1"/>
  <p:tag name="KSO_WM_DIAGRAM_GROUP_CODE" val="m1-1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g"/>
  <p:tag name="KSO_WM_UNIT_INDEX" val="1_5_1"/>
  <p:tag name="KSO_WM_UNIT_LAYERLEVEL" val="1_1_1"/>
  <p:tag name="KSO_WM_UNIT_VALUE" val="6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m1-1"/>
  <p:tag name="KSO_WM_UNIT_ID" val="diagram20170977_4*m_h_g*1_5_1"/>
  <p:tag name="KSO_WM_UNIT_RELATE_UNITID" val="diagram20170977_4*m_h_f*1_5_1"/>
  <p:tag name="KSO_WM_UNIT_TEXT_FILL_FORE_SCHEMECOLOR_INDEX" val="14"/>
  <p:tag name="KSO_WM_UNIT_TEXT_FILL_TYPE" val="1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a"/>
  <p:tag name="KSO_WM_UNIT_INDEX" val="1_5_1"/>
  <p:tag name="KSO_WM_UNIT_LAYERLEVEL" val="1_1_1"/>
  <p:tag name="KSO_WM_UNIT_VALUE" val="8"/>
  <p:tag name="KSO_WM_UNIT_HIGHLIGHT" val="0"/>
  <p:tag name="KSO_WM_UNIT_COMPATIBLE" val="0"/>
  <p:tag name="KSO_WM_UNIT_CLEAR" val="0"/>
  <p:tag name="KSO_WM_UNIT_PRESET_TEXT_INDEX" val="3"/>
  <p:tag name="KSO_WM_UNIT_PRESET_TEXT_LEN" val="12"/>
  <p:tag name="KSO_WM_DIAGRAM_GROUP_CODE" val="m1-1"/>
  <p:tag name="KSO_WM_UNIT_ID" val="diagram20170977_4*m_h_a*1_5_1"/>
  <p:tag name="KSO_WM_UNIT_TEXT_FILL_FORE_SCHEMECOLOR_INDEX" val="13"/>
  <p:tag name="KSO_WM_UNIT_TEXT_FILL_TYPE" val="1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f"/>
  <p:tag name="KSO_WM_UNIT_INDEX" val="1_5_1"/>
  <p:tag name="KSO_WM_UNIT_LAYERLEVEL" val="1_1_1"/>
  <p:tag name="KSO_WM_UNIT_VALUE" val="24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m1-1"/>
  <p:tag name="KSO_WM_UNIT_ID" val="diagram20170977_4*m_h_f*1_5_1"/>
  <p:tag name="KSO_WM_UNIT_TEXT_FILL_FORE_SCHEMECOLOR_INDEX" val="13"/>
  <p:tag name="KSO_WM_UNIT_TEXT_FILL_TYPE" val="1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4_1"/>
  <p:tag name="KSO_WM_UNIT_ID" val="diagram20170977_4*m_h_i*1_4_1"/>
  <p:tag name="KSO_WM_UNIT_LAYERLEVEL" val="1_1_1"/>
  <p:tag name="KSO_WM_DIAGRAM_GROUP_CODE" val="m1-1"/>
  <p:tag name="KSO_WM_UNIT_FILL_FORE_SCHEMECOLOR_INDEX" val="8"/>
  <p:tag name="KSO_WM_UNIT_FILL_TYPE" val="1"/>
  <p:tag name="KSO_WM_UNIT_LINE_FORE_SCHEMECOLOR_INDEX" val="6"/>
  <p:tag name="KSO_WM_UNIT_LINE_FILL_TYPE" val="2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4_2"/>
  <p:tag name="KSO_WM_UNIT_ID" val="diagram20170977_4*m_h_i*1_4_2"/>
  <p:tag name="KSO_WM_UNIT_LAYERLEVEL" val="1_1_1"/>
  <p:tag name="KSO_WM_DIAGRAM_GROUP_CODE" val="m1-1"/>
  <p:tag name="KSO_WM_UNIT_FILL_FORE_SCHEMECOLOR_INDEX" val="6"/>
  <p:tag name="KSO_WM_UNIT_FILL_TYPE" val="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g"/>
  <p:tag name="KSO_WM_UNIT_INDEX" val="1_4_1"/>
  <p:tag name="KSO_WM_UNIT_LAYERLEVEL" val="1_1_1"/>
  <p:tag name="KSO_WM_UNIT_VALUE" val="6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m1-1"/>
  <p:tag name="KSO_WM_UNIT_ID" val="diagram20170977_4*m_h_g*1_4_1"/>
  <p:tag name="KSO_WM_UNIT_RELATE_UNITID" val="diagram20170977_4*m_h_f*1_4_1"/>
  <p:tag name="KSO_WM_UNIT_TEXT_FILL_FORE_SCHEMECOLOR_INDEX" val="14"/>
  <p:tag name="KSO_WM_UNIT_TEXT_FILL_TYPE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4_3"/>
  <p:tag name="KSO_WM_UNIT_ID" val="diagram20170977_4*m_h_i*1_4_3"/>
  <p:tag name="KSO_WM_UNIT_LAYERLEVEL" val="1_1_1"/>
  <p:tag name="KSO_WM_DIAGRAM_GROUP_CODE" val="m1-1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a"/>
  <p:tag name="KSO_WM_UNIT_INDEX" val="1_4_1"/>
  <p:tag name="KSO_WM_UNIT_LAYERLEVEL" val="1_1_1"/>
  <p:tag name="KSO_WM_UNIT_VALUE" val="8"/>
  <p:tag name="KSO_WM_UNIT_HIGHLIGHT" val="0"/>
  <p:tag name="KSO_WM_UNIT_COMPATIBLE" val="0"/>
  <p:tag name="KSO_WM_UNIT_CLEAR" val="0"/>
  <p:tag name="KSO_WM_UNIT_PRESET_TEXT_INDEX" val="3"/>
  <p:tag name="KSO_WM_UNIT_PRESET_TEXT_LEN" val="12"/>
  <p:tag name="KSO_WM_DIAGRAM_GROUP_CODE" val="m1-1"/>
  <p:tag name="KSO_WM_UNIT_ID" val="diagram20170977_4*m_h_a*1_4_1"/>
  <p:tag name="KSO_WM_UNIT_TEXT_FILL_FORE_SCHEMECOLOR_INDEX" val="13"/>
  <p:tag name="KSO_WM_UNIT_TEXT_FILL_TYPE" val="1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f"/>
  <p:tag name="KSO_WM_UNIT_INDEX" val="1_4_1"/>
  <p:tag name="KSO_WM_UNIT_LAYERLEVEL" val="1_1_1"/>
  <p:tag name="KSO_WM_UNIT_VALUE" val="24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m1-1"/>
  <p:tag name="KSO_WM_UNIT_ID" val="diagram20170977_4*m_h_f*1_4_1"/>
  <p:tag name="KSO_WM_UNIT_TEXT_FILL_FORE_SCHEMECOLOR_INDEX" val="13"/>
  <p:tag name="KSO_WM_UNIT_TEXT_FILL_TYPE" val="1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3_1"/>
  <p:tag name="KSO_WM_UNIT_ID" val="diagram20170977_4*m_h_i*1_3_1"/>
  <p:tag name="KSO_WM_UNIT_LAYERLEVEL" val="1_1_1"/>
  <p:tag name="KSO_WM_DIAGRAM_GROUP_CODE" val="m1-1"/>
  <p:tag name="KSO_WM_UNIT_FILL_FORE_SCHEMECOLOR_INDEX" val="8"/>
  <p:tag name="KSO_WM_UNIT_FILL_TYPE" val="1"/>
  <p:tag name="KSO_WM_UNIT_LINE_FORE_SCHEMECOLOR_INDEX" val="6"/>
  <p:tag name="KSO_WM_UNIT_LINE_FILL_TYPE" val="2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3_2"/>
  <p:tag name="KSO_WM_UNIT_ID" val="diagram20170977_4*m_h_i*1_3_2"/>
  <p:tag name="KSO_WM_UNIT_LAYERLEVEL" val="1_1_1"/>
  <p:tag name="KSO_WM_DIAGRAM_GROUP_CODE" val="m1-1"/>
  <p:tag name="KSO_WM_UNIT_FILL_FORE_SCHEMECOLOR_INDEX" val="6"/>
  <p:tag name="KSO_WM_UNIT_FILL_TYPE" val="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3_3"/>
  <p:tag name="KSO_WM_UNIT_ID" val="diagram20170977_4*m_h_i*1_3_3"/>
  <p:tag name="KSO_WM_UNIT_LAYERLEVEL" val="1_1_1"/>
  <p:tag name="KSO_WM_DIAGRAM_GROUP_CODE" val="m1-1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g"/>
  <p:tag name="KSO_WM_UNIT_INDEX" val="1_3_1"/>
  <p:tag name="KSO_WM_UNIT_LAYERLEVEL" val="1_1_1"/>
  <p:tag name="KSO_WM_UNIT_VALUE" val="6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m1-1"/>
  <p:tag name="KSO_WM_UNIT_ID" val="diagram20170977_4*m_h_g*1_3_1"/>
  <p:tag name="KSO_WM_UNIT_RELATE_UNITID" val="diagram20170977_4*m_h_f*1_3_1"/>
  <p:tag name="KSO_WM_UNIT_TEXT_FILL_FORE_SCHEMECOLOR_INDEX" val="14"/>
  <p:tag name="KSO_WM_UNIT_TEXT_FILL_TYPE" val="1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a"/>
  <p:tag name="KSO_WM_UNIT_INDEX" val="1_3_1"/>
  <p:tag name="KSO_WM_UNIT_LAYERLEVEL" val="1_1_1"/>
  <p:tag name="KSO_WM_UNIT_VALUE" val="8"/>
  <p:tag name="KSO_WM_UNIT_HIGHLIGHT" val="0"/>
  <p:tag name="KSO_WM_UNIT_COMPATIBLE" val="0"/>
  <p:tag name="KSO_WM_UNIT_CLEAR" val="0"/>
  <p:tag name="KSO_WM_UNIT_PRESET_TEXT_INDEX" val="3"/>
  <p:tag name="KSO_WM_UNIT_PRESET_TEXT_LEN" val="12"/>
  <p:tag name="KSO_WM_DIAGRAM_GROUP_CODE" val="m1-1"/>
  <p:tag name="KSO_WM_UNIT_ID" val="diagram20170977_4*m_h_a*1_3_1"/>
  <p:tag name="KSO_WM_UNIT_TEXT_FILL_FORE_SCHEMECOLOR_INDEX" val="13"/>
  <p:tag name="KSO_WM_UNIT_TEXT_FILL_TYPE" val="1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f"/>
  <p:tag name="KSO_WM_UNIT_INDEX" val="1_3_1"/>
  <p:tag name="KSO_WM_UNIT_LAYERLEVEL" val="1_1_1"/>
  <p:tag name="KSO_WM_UNIT_VALUE" val="24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m1-1"/>
  <p:tag name="KSO_WM_UNIT_ID" val="diagram20170977_4*m_h_f*1_3_1"/>
  <p:tag name="KSO_WM_UNIT_TEXT_FILL_FORE_SCHEMECOLOR_INDEX" val="13"/>
  <p:tag name="KSO_WM_UNIT_TEXT_FILL_TYPE" val="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4_1"/>
  <p:tag name="KSO_WM_UNIT_ID" val="diagram20170977_4*m_h_i*1_4_1"/>
  <p:tag name="KSO_WM_UNIT_LAYERLEVEL" val="1_1_1"/>
  <p:tag name="KSO_WM_DIAGRAM_GROUP_CODE" val="m1-1"/>
  <p:tag name="KSO_WM_UNIT_FILL_FORE_SCHEMECOLOR_INDEX" val="8"/>
  <p:tag name="KSO_WM_UNIT_FILL_TYPE" val="1"/>
  <p:tag name="KSO_WM_UNIT_LINE_FORE_SCHEMECOLOR_INDEX" val="6"/>
  <p:tag name="KSO_WM_UNIT_LINE_FILL_TYPE" val="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4_2"/>
  <p:tag name="KSO_WM_UNIT_ID" val="diagram20170977_4*m_h_i*1_4_2"/>
  <p:tag name="KSO_WM_UNIT_LAYERLEVEL" val="1_1_1"/>
  <p:tag name="KSO_WM_DIAGRAM_GROUP_CODE" val="m1-1"/>
  <p:tag name="KSO_WM_UNIT_FILL_FORE_SCHEMECOLOR_INDEX" val="6"/>
  <p:tag name="KSO_WM_UNIT_FILL_TYPE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g"/>
  <p:tag name="KSO_WM_UNIT_INDEX" val="1_4_1"/>
  <p:tag name="KSO_WM_UNIT_LAYERLEVEL" val="1_1_1"/>
  <p:tag name="KSO_WM_UNIT_VALUE" val="6"/>
  <p:tag name="KSO_WM_UNIT_HIGHLIGHT" val="0"/>
  <p:tag name="KSO_WM_UNIT_COMPATIBLE" val="1"/>
  <p:tag name="KSO_WM_UNIT_CLEAR" val="0"/>
  <p:tag name="KSO_WM_UNIT_PRESET_TEXT_INDEX" val="4"/>
  <p:tag name="KSO_WM_UNIT_PRESET_TEXT_LEN" val="5"/>
  <p:tag name="KSO_WM_DIAGRAM_GROUP_CODE" val="m1-1"/>
  <p:tag name="KSO_WM_UNIT_ID" val="diagram20170977_4*m_h_g*1_4_1"/>
  <p:tag name="KSO_WM_UNIT_RELATE_UNITID" val="diagram20170977_4*m_h_f*1_4_1"/>
  <p:tag name="KSO_WM_UNIT_TEXT_FILL_FORE_SCHEMECOLOR_INDEX" val="14"/>
  <p:tag name="KSO_WM_UNIT_TEXT_FILL_TYPE" val="1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i"/>
  <p:tag name="KSO_WM_UNIT_INDEX" val="1_4_3"/>
  <p:tag name="KSO_WM_UNIT_ID" val="diagram20170977_4*m_h_i*1_4_3"/>
  <p:tag name="KSO_WM_UNIT_LAYERLEVEL" val="1_1_1"/>
  <p:tag name="KSO_WM_DIAGRAM_GROUP_CODE" val="m1-1"/>
  <p:tag name="KSO_WM_UNIT_LINE_FORE_SCHEMECOLOR_INDEX" val="6"/>
  <p:tag name="KSO_WM_UNIT_LINE_FILL_TYPE" val="2"/>
  <p:tag name="KSO_WM_UNIT_TEXT_FILL_FORE_SCHEMECOLOR_INDEX" val="13"/>
  <p:tag name="KSO_WM_UNIT_TEXT_FILL_TYPE" val="1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a"/>
  <p:tag name="KSO_WM_UNIT_INDEX" val="1_4_1"/>
  <p:tag name="KSO_WM_UNIT_LAYERLEVEL" val="1_1_1"/>
  <p:tag name="KSO_WM_UNIT_VALUE" val="8"/>
  <p:tag name="KSO_WM_UNIT_HIGHLIGHT" val="0"/>
  <p:tag name="KSO_WM_UNIT_COMPATIBLE" val="0"/>
  <p:tag name="KSO_WM_UNIT_CLEAR" val="0"/>
  <p:tag name="KSO_WM_UNIT_PRESET_TEXT_INDEX" val="3"/>
  <p:tag name="KSO_WM_UNIT_PRESET_TEXT_LEN" val="12"/>
  <p:tag name="KSO_WM_DIAGRAM_GROUP_CODE" val="m1-1"/>
  <p:tag name="KSO_WM_UNIT_ID" val="diagram20170977_4*m_h_a*1_4_1"/>
  <p:tag name="KSO_WM_UNIT_TEXT_FILL_FORE_SCHEMECOLOR_INDEX" val="13"/>
  <p:tag name="KSO_WM_UNIT_TEXT_FILL_TYPE" val="1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TAG_VERSION" val="1.0"/>
  <p:tag name="KSO_WM_BEAUTIFY_FLAG" val="#wm#"/>
  <p:tag name="KSO_WM_TEMPLATE_CATEGORY" val="diagram"/>
  <p:tag name="KSO_WM_TEMPLATE_INDEX" val="20170977"/>
  <p:tag name="KSO_WM_UNIT_TYPE" val="m_h_f"/>
  <p:tag name="KSO_WM_UNIT_INDEX" val="1_4_1"/>
  <p:tag name="KSO_WM_UNIT_LAYERLEVEL" val="1_1_1"/>
  <p:tag name="KSO_WM_UNIT_VALUE" val="24"/>
  <p:tag name="KSO_WM_UNIT_HIGHLIGHT" val="0"/>
  <p:tag name="KSO_WM_UNIT_COMPATIBLE" val="0"/>
  <p:tag name="KSO_WM_UNIT_CLEAR" val="0"/>
  <p:tag name="KSO_WM_UNIT_PRESET_TEXT_INDEX" val="4"/>
  <p:tag name="KSO_WM_UNIT_PRESET_TEXT_LEN" val="40"/>
  <p:tag name="KSO_WM_DIAGRAM_GROUP_CODE" val="m1-1"/>
  <p:tag name="KSO_WM_UNIT_ID" val="diagram20170977_4*m_h_f*1_4_1"/>
  <p:tag name="KSO_WM_UNIT_TEXT_FILL_FORE_SCHEMECOLOR_INDEX" val="13"/>
  <p:tag name="KSO_WM_UNIT_TEXT_FILL_TYPE" val="1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#wm#"/>
  <p:tag name="KSO_WM_TEMPLATE_CATEGORY" val="custom"/>
  <p:tag name="KSO_WM_TEMPLATE_INDEX" val="20205081"/>
</p:tagLst>
</file>

<file path=ppt/theme/theme1.xml><?xml version="1.0" encoding="utf-8"?>
<a:theme xmlns:a="http://schemas.openxmlformats.org/drawingml/2006/main" name="Office 主题​​">
  <a:themeElements>
    <a:clrScheme name="自定义 1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79B"/>
      </a:accent1>
      <a:accent2>
        <a:srgbClr val="04396D"/>
      </a:accent2>
      <a:accent3>
        <a:srgbClr val="000032"/>
      </a:accent3>
      <a:accent4>
        <a:srgbClr val="0070C0"/>
      </a:accent4>
      <a:accent5>
        <a:srgbClr val="002060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6">
      <a:majorFont>
        <a:latin typeface="Arial Unicode MS"/>
        <a:ea typeface="方正兰亭黑简体"/>
        <a:cs typeface=""/>
      </a:majorFont>
      <a:minorFont>
        <a:latin typeface="Arial Unicode MS"/>
        <a:ea typeface="方正兰亭黑简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394</TotalTime>
  <Words>1486</Words>
  <Application>Microsoft Office PowerPoint</Application>
  <PresentationFormat>宽屏</PresentationFormat>
  <Paragraphs>298</Paragraphs>
  <Slides>11</Slides>
  <Notes>11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5" baseType="lpstr">
      <vt:lpstr>Arial Unicode MS</vt:lpstr>
      <vt:lpstr>Noto Sans S Chinese Bold</vt:lpstr>
      <vt:lpstr>Noto Sans S Chinese Light</vt:lpstr>
      <vt:lpstr>方正兰亭黑简体</vt:lpstr>
      <vt:lpstr>微软雅黑</vt:lpstr>
      <vt:lpstr>微软雅黑 Light</vt:lpstr>
      <vt:lpstr>张海山锐谐体</vt:lpstr>
      <vt:lpstr>Arial</vt:lpstr>
      <vt:lpstr>Calibri</vt:lpstr>
      <vt:lpstr>Montserrat Light</vt:lpstr>
      <vt:lpstr>Roboto</vt:lpstr>
      <vt:lpstr>Roboto Black</vt:lpstr>
      <vt:lpstr>Roboto Light</vt:lpstr>
      <vt:lpstr>Office 主题​​</vt:lpstr>
      <vt:lpstr>MES产品规划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珂阳科技 为智能而生！ </vt:lpstr>
    </vt:vector>
  </TitlesOfParts>
  <Company>GenesisCare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Treatment planning A new approach</dc:title>
  <dc:creator>Will Kong</dc:creator>
  <cp:lastModifiedBy>树盛 李</cp:lastModifiedBy>
  <cp:revision>411</cp:revision>
  <dcterms:created xsi:type="dcterms:W3CDTF">2022-03-01T13:02:00Z</dcterms:created>
  <dcterms:modified xsi:type="dcterms:W3CDTF">2023-02-28T09:19:41Z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  <property fmtid="{D5CDD505-2E9C-101B-9397-08002B2CF9AE}" pid="3" name="KSOProductBuildVer">
    <vt:lpwstr>2052-11.1.0.13703</vt:lpwstr>
  </property>
  <property fmtid="{D5CDD505-2E9C-101B-9397-08002B2CF9AE}" pid="4" name="ICV">
    <vt:lpwstr>9A2AB253CEBC4387913F74C1E3755F9C</vt:lpwstr>
  </property>
</Properties>
</file>